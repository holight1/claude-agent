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56" r:id="rId3"/>
    <p:sldId id="257" r:id="rId5"/>
    <p:sldId id="258" r:id="rId6"/>
    <p:sldId id="274" r:id="rId7"/>
    <p:sldId id="259" r:id="rId8"/>
    <p:sldId id="260" r:id="rId9"/>
    <p:sldId id="276" r:id="rId10"/>
    <p:sldId id="280" r:id="rId11"/>
    <p:sldId id="277" r:id="rId12"/>
    <p:sldId id="278" r:id="rId13"/>
    <p:sldId id="279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5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852" userDrawn="1">
          <p15:clr>
            <a:srgbClr val="A4A3A4"/>
          </p15:clr>
        </p15:guide>
        <p15:guide id="4" orient="horz" pos="374" userDrawn="1">
          <p15:clr>
            <a:srgbClr val="A4A3A4"/>
          </p15:clr>
        </p15:guide>
        <p15:guide id="5" pos="6883" userDrawn="1">
          <p15:clr>
            <a:srgbClr val="A4A3A4"/>
          </p15:clr>
        </p15:guide>
        <p15:guide id="6" orient="horz" pos="27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  <p:cmAuthor id="2" name="liujo" initials="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100"/>
    <a:srgbClr val="0063B1"/>
    <a:srgbClr val="009E96"/>
    <a:srgbClr val="0D64B2"/>
    <a:srgbClr val="FFF001"/>
    <a:srgbClr val="009E95"/>
    <a:srgbClr val="F5ED05"/>
    <a:srgbClr val="0C62A9"/>
    <a:srgbClr val="0E63A9"/>
    <a:srgbClr val="0391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8" autoAdjust="0"/>
    <p:restoredTop sz="96310" autoAdjust="0"/>
  </p:normalViewPr>
  <p:slideViewPr>
    <p:cSldViewPr snapToGrid="0" showGuides="1">
      <p:cViewPr>
        <p:scale>
          <a:sx n="109" d="100"/>
          <a:sy n="109" d="100"/>
        </p:scale>
        <p:origin x="1272" y="600"/>
      </p:cViewPr>
      <p:guideLst>
        <p:guide orient="horz" pos="4250"/>
        <p:guide pos="3840"/>
        <p:guide pos="852"/>
        <p:guide orient="horz" pos="374"/>
        <p:guide pos="6883"/>
        <p:guide orient="horz" pos="27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55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65618-0F20-4D22-A040-45EDF8271D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2398-85D1-4966-97F2-1D0AA74B6D5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>
              <a:spcAft>
                <a:spcPts val="600"/>
              </a:spcAft>
            </a:pPr>
            <a:r>
              <a:rPr lang="zh-CN" altLang="en-US"/>
              <a:t>大家好，我今天分享的内容是</a:t>
            </a:r>
            <a:r>
              <a:rPr lang="en-US" altLang="zh-CN"/>
              <a:t>AI </a:t>
            </a:r>
            <a:r>
              <a:rPr lang="zh-CN" altLang="en-US"/>
              <a:t>协作编程，</a:t>
            </a:r>
            <a:r>
              <a:rPr b="1">
                <a:solidFill>
                  <a:srgbClr val="FFFFFF"/>
                </a:solidFill>
                <a:latin typeface="PingFang SC" panose="020B0400000000000000" charset="-122"/>
                <a:sym typeface="+mn-ea"/>
              </a:rPr>
              <a:t>把 Context 管理做成工程能力</a:t>
            </a:r>
            <a:r>
              <a:rPr lang="zh-CN" b="1">
                <a:solidFill>
                  <a:srgbClr val="FFFFFF"/>
                </a:solidFill>
                <a:latin typeface="PingFang SC" panose="020B0400000000000000" charset="-122"/>
                <a:sym typeface="+mn-ea"/>
              </a:rPr>
              <a:t>。具体会介绍下我们</a:t>
            </a:r>
            <a:r>
              <a:rPr lang="zh-CN" altLang="en-US">
                <a:solidFill>
                  <a:srgbClr val="FFFFFF"/>
                </a:solidFill>
                <a:latin typeface="PingFang SC" panose="020B0400000000000000" charset="-122"/>
                <a:sym typeface="+mn-ea"/>
              </a:rPr>
              <a:t>利用</a:t>
            </a:r>
            <a:r>
              <a:rPr lang="en-US">
                <a:solidFill>
                  <a:srgbClr val="FFFFFF"/>
                </a:solidFill>
                <a:latin typeface="PingFang SC" panose="020B0400000000000000" charset="-122"/>
                <a:sym typeface="+mn-ea"/>
              </a:rPr>
              <a:t>AI</a:t>
            </a:r>
            <a:r>
              <a:rPr lang="zh-CN" altLang="en-US">
                <a:solidFill>
                  <a:srgbClr val="FFFFFF"/>
                </a:solidFill>
                <a:latin typeface="PingFang SC" panose="020B0400000000000000" charset="-122"/>
                <a:sym typeface="+mn-ea"/>
              </a:rPr>
              <a:t>辅助编程在</a:t>
            </a:r>
            <a:r>
              <a:rPr lang="en-US" altLang="zh-CN">
                <a:solidFill>
                  <a:srgbClr val="FFFFFF"/>
                </a:solidFill>
                <a:latin typeface="PingFang SC" panose="020B0400000000000000" charset="-122"/>
                <a:sym typeface="+mn-ea"/>
              </a:rPr>
              <a:t>SuBase</a:t>
            </a:r>
            <a:r>
              <a:rPr lang="zh-CN" altLang="en-US">
                <a:solidFill>
                  <a:srgbClr val="FFFFFF"/>
                </a:solidFill>
                <a:latin typeface="PingFang SC" panose="020B0400000000000000" charset="-122"/>
                <a:sym typeface="+mn-ea"/>
              </a:rPr>
              <a:t>下的</a:t>
            </a:r>
            <a:r>
              <a:rPr lang="zh-CN" altLang="en-US">
                <a:solidFill>
                  <a:srgbClr val="FFFFFF"/>
                </a:solidFill>
                <a:latin typeface="PingFang SC" panose="020B0400000000000000" charset="-122"/>
                <a:sym typeface="+mn-ea"/>
              </a:rPr>
              <a:t>工程开发实践和思考</a:t>
            </a:r>
            <a:endParaRPr lang="zh-CN" b="1">
              <a:solidFill>
                <a:srgbClr val="FFFFFF"/>
              </a:solidFill>
              <a:latin typeface="PingFang SC" panose="020B0400000000000000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我今天的分享大概分为</a:t>
            </a:r>
            <a:r>
              <a:rPr lang="en-US" altLang="zh-CN"/>
              <a:t>5</a:t>
            </a:r>
            <a:r>
              <a:rPr lang="zh-CN" altLang="en-US"/>
              <a:t>个</a:t>
            </a:r>
            <a:r>
              <a:rPr lang="zh-CN" altLang="en-US"/>
              <a:t>部分，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registry</a:t>
            </a:r>
            <a:r>
              <a:rPr lang="en-US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.md </a:t>
            </a:r>
            <a:r>
              <a:rPr lang="zh-CN" altLang="en-US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有哪些仓库需要管理，仓库</a:t>
            </a:r>
            <a:r>
              <a:rPr lang="en-US" altLang="zh-CN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A</a:t>
            </a:r>
            <a:r>
              <a:rPr lang="zh-CN" altLang="en-US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的什么问题需要仓库</a:t>
            </a:r>
            <a:r>
              <a:rPr lang="en-US" altLang="zh-CN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B</a:t>
            </a:r>
            <a:r>
              <a:rPr lang="zh-CN" altLang="en-US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协作，一些典型工作的仓库调用</a:t>
            </a:r>
            <a:r>
              <a:rPr lang="zh-CN" altLang="en-US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链。</a:t>
            </a:r>
            <a:endParaRPr lang="zh-CN" altLang="en-US">
              <a:solidFill>
                <a:srgbClr val="464F5C"/>
              </a:solidFill>
              <a:latin typeface="PingFang SC" panose="020B0400000000000000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92DF9-F1E4-4F2D-A5E4-23E1B221D2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30A0-F4C8-489E-8A3D-5D1603FF61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92DF9-F1E4-4F2D-A5E4-23E1B221D2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30A0-F4C8-489E-8A3D-5D1603FF61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92DF9-F1E4-4F2D-A5E4-23E1B221D2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30A0-F4C8-489E-8A3D-5D1603FF61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92DF9-F1E4-4F2D-A5E4-23E1B221D2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30A0-F4C8-489E-8A3D-5D1603FF61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92DF9-F1E4-4F2D-A5E4-23E1B221D2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30A0-F4C8-489E-8A3D-5D1603FF61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92DF9-F1E4-4F2D-A5E4-23E1B221D2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30A0-F4C8-489E-8A3D-5D1603FF61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E:/北京人事工作/SUNMMIO企业logo.pngSUNMMIO企业logo"/>
          <p:cNvPicPr>
            <a:picLocks noChangeAspect="1"/>
          </p:cNvPicPr>
          <p:nvPr userDrawn="1"/>
        </p:nvPicPr>
        <p:blipFill>
          <a:blip r:embed="rId2"/>
          <a:srcRect l="-1700" t="-3974" r="-1556" b="-3974"/>
          <a:stretch>
            <a:fillRect/>
          </a:stretch>
        </p:blipFill>
        <p:spPr>
          <a:xfrm>
            <a:off x="9994265" y="295910"/>
            <a:ext cx="1812290" cy="715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92DF9-F1E4-4F2D-A5E4-23E1B221D2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30A0-F4C8-489E-8A3D-5D1603FF61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92DF9-F1E4-4F2D-A5E4-23E1B221D2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30A0-F4C8-489E-8A3D-5D1603FF61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92DF9-F1E4-4F2D-A5E4-23E1B221D2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30A0-F4C8-489E-8A3D-5D1603FF61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92DF9-F1E4-4F2D-A5E4-23E1B221D2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30A0-F4C8-489E-8A3D-5D1603FF61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92DF9-F1E4-4F2D-A5E4-23E1B221D2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F30A0-F4C8-489E-8A3D-5D1603FF61D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18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3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54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-320040" y="1051560"/>
            <a:ext cx="5212080" cy="4663440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0" y="1508760"/>
            <a:ext cx="8412480" cy="4526280"/>
          </a:xfrm>
          <a:prstGeom prst="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6583680" y="1115568"/>
            <a:ext cx="1828800" cy="274320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0195560" y="5413248"/>
            <a:ext cx="1371600" cy="56692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286000"/>
            <a:ext cx="5943600" cy="11887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 i="1">
                <a:solidFill>
                  <a:srgbClr val="F7E500"/>
                </a:solidFill>
                <a:latin typeface="PingFang SC" panose="020B0400000000000000" charset="-122"/>
              </a:rPr>
              <a:t>AI 协作编程</a:t>
            </a:r>
            <a:endParaRPr sz="3400" b="1" i="1">
              <a:solidFill>
                <a:srgbClr val="F7E500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19472" y="3063240"/>
            <a:ext cx="6035040" cy="10058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PingFang SC" panose="020B0400000000000000" charset="-122"/>
              </a:rPr>
              <a:t>把 Context 管理做成工程能力</a:t>
            </a:r>
            <a:endParaRPr sz="24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19472" y="3886200"/>
            <a:ext cx="594360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600" b="0" i="0">
                <a:solidFill>
                  <a:srgbClr val="FFFFFF"/>
                </a:solidFill>
                <a:latin typeface="PingFang SC" panose="020B0400000000000000" charset="-122"/>
              </a:rPr>
              <a:t>                         AI</a:t>
            </a:r>
            <a:r>
              <a:rPr lang="zh-CN" altLang="en-US" sz="1600" b="0" i="0">
                <a:solidFill>
                  <a:srgbClr val="FFFFFF"/>
                </a:solidFill>
                <a:latin typeface="PingFang SC" panose="020B0400000000000000" charset="-122"/>
              </a:rPr>
              <a:t>辅助编程在</a:t>
            </a:r>
            <a:r>
              <a:rPr lang="en-US" altLang="zh-CN" sz="1600" b="0" i="0">
                <a:solidFill>
                  <a:srgbClr val="FFFFFF"/>
                </a:solidFill>
                <a:latin typeface="PingFang SC" panose="020B0400000000000000" charset="-122"/>
              </a:rPr>
              <a:t>SuBase</a:t>
            </a:r>
            <a:r>
              <a:rPr lang="zh-CN" altLang="en-US" sz="1600" b="0" i="0">
                <a:solidFill>
                  <a:srgbClr val="FFFFFF"/>
                </a:solidFill>
                <a:latin typeface="PingFang SC" panose="020B0400000000000000" charset="-122"/>
              </a:rPr>
              <a:t>下的开发实践和</a:t>
            </a:r>
            <a:r>
              <a:rPr lang="zh-CN" altLang="en-US" sz="1600" b="0" i="0">
                <a:solidFill>
                  <a:srgbClr val="FFFFFF"/>
                </a:solidFill>
                <a:latin typeface="PingFang SC" panose="020B0400000000000000" charset="-122"/>
              </a:rPr>
              <a:t>思考</a:t>
            </a:r>
            <a:endParaRPr lang="zh-CN" altLang="en-US" sz="16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92624" y="4700016"/>
            <a:ext cx="420624" cy="54864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2624" y="4846320"/>
            <a:ext cx="5760720" cy="18288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4498848"/>
            <a:ext cx="1417320" cy="5347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36576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Avenir Next" panose="020B0803020202020204"/>
              </a:rPr>
              <a:t>CONTENTS</a:t>
            </a:r>
            <a:endParaRPr sz="2800" b="1" i="0">
              <a:solidFill>
                <a:srgbClr val="1E2A48"/>
              </a:solidFill>
              <a:latin typeface="Avenir Next" panose="020B080302020202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9659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640080" cy="384048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64008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01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6002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2A48"/>
                </a:solidFill>
                <a:latin typeface="PingFang SC" panose="020B0400000000000000" charset="-122"/>
              </a:rPr>
              <a:t>问题从哪来</a:t>
            </a:r>
            <a:endParaRPr sz="20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60020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b="0" i="0">
                <a:solidFill>
                  <a:srgbClr val="464F5C"/>
                </a:solidFill>
                <a:latin typeface="PingFang SC" panose="020B0400000000000000" charset="-122"/>
              </a:rPr>
              <a:t>为什么 AI 写 Demo 很顺，一进工程就容易偏</a:t>
            </a:r>
            <a:endParaRPr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154680" y="1691640"/>
            <a:ext cx="19659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920240"/>
            <a:ext cx="640080" cy="384048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965960"/>
            <a:ext cx="64008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02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37560" y="2514600"/>
            <a:ext cx="16002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2A48"/>
                </a:solidFill>
                <a:latin typeface="PingFang SC" panose="020B0400000000000000" charset="-122"/>
              </a:rPr>
              <a:t>一条真实链路</a:t>
            </a:r>
            <a:endParaRPr sz="20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37560" y="3154680"/>
            <a:ext cx="160020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b="0" i="0">
                <a:solidFill>
                  <a:srgbClr val="464F5C"/>
                </a:solidFill>
                <a:latin typeface="PingFang SC" panose="020B0400000000000000" charset="-122"/>
              </a:rPr>
              <a:t>用一次故障排查说明 Context 为什么会失控</a:t>
            </a:r>
            <a:endParaRPr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0" y="1691640"/>
            <a:ext cx="19659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0" y="1920240"/>
            <a:ext cx="640080" cy="384048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965960"/>
            <a:ext cx="64008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03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0" y="2514600"/>
            <a:ext cx="16002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zh-CN" sz="2000" b="1" i="0">
                <a:solidFill>
                  <a:srgbClr val="1E2A48"/>
                </a:solidFill>
                <a:latin typeface="PingFang SC" panose="020B0400000000000000" charset="-122"/>
              </a:rPr>
              <a:t>我们的方案</a:t>
            </a:r>
            <a:endParaRPr sz="20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0" y="3154680"/>
            <a:ext cx="1600200" cy="1786890"/>
          </a:xfrm>
          <a:prstGeom prst="rect">
            <a:avLst/>
          </a:prstGeom>
          <a:noFill/>
        </p:spPr>
        <p:txBody>
          <a:bodyPr wrap="square" anchor="t">
            <a:normAutofit lnSpcReduction="20000"/>
          </a:bodyPr>
          <a:lstStyle/>
          <a:p>
            <a:pPr algn="l">
              <a:spcAft>
                <a:spcPts val="600"/>
              </a:spcAft>
            </a:pPr>
            <a:r>
              <a:rPr lang="en-US" b="0" i="0">
                <a:solidFill>
                  <a:srgbClr val="464F5C"/>
                </a:solidFill>
                <a:latin typeface="PingFang SC" panose="020B0400000000000000" charset="-122"/>
              </a:rPr>
              <a:t>AI</a:t>
            </a:r>
            <a:r>
              <a:rPr lang="zh-CN" altLang="en-US" b="0" i="0">
                <a:solidFill>
                  <a:srgbClr val="464F5C"/>
                </a:solidFill>
                <a:latin typeface="PingFang SC" panose="020B0400000000000000" charset="-122"/>
              </a:rPr>
              <a:t>友好的开发</a:t>
            </a:r>
            <a:r>
              <a:rPr lang="zh-CN" altLang="en-US" b="0" i="0">
                <a:solidFill>
                  <a:srgbClr val="464F5C"/>
                </a:solidFill>
                <a:latin typeface="PingFang SC" panose="020B0400000000000000" charset="-122"/>
              </a:rPr>
              <a:t>环境</a:t>
            </a:r>
            <a:endParaRPr lang="zh-CN" altLang="en-US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lang="en-US" altLang="zh-CN" b="0" i="0">
                <a:solidFill>
                  <a:srgbClr val="464F5C"/>
                </a:solidFill>
                <a:latin typeface="PingFang SC" panose="020B0400000000000000" charset="-122"/>
              </a:rPr>
              <a:t>Mocking</a:t>
            </a:r>
            <a:endParaRPr lang="en-US" altLang="zh-CN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lang="en-US" altLang="zh-CN" b="0" i="0">
                <a:solidFill>
                  <a:srgbClr val="464F5C"/>
                </a:solidFill>
                <a:latin typeface="PingFang SC" panose="020B0400000000000000" charset="-122"/>
              </a:rPr>
              <a:t>TDD</a:t>
            </a:r>
            <a:endParaRPr lang="en-US" altLang="zh-CN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lang="zh-CN" altLang="en-US" b="0" i="0">
                <a:solidFill>
                  <a:srgbClr val="464F5C"/>
                </a:solidFill>
                <a:latin typeface="PingFang SC" panose="020B0400000000000000" charset="-122"/>
              </a:rPr>
              <a:t>多级</a:t>
            </a:r>
            <a:r>
              <a:rPr lang="en-US" altLang="zh-CN" b="0" i="0">
                <a:solidFill>
                  <a:srgbClr val="464F5C"/>
                </a:solidFill>
                <a:latin typeface="PingFang SC" panose="020B0400000000000000" charset="-122"/>
              </a:rPr>
              <a:t>RAG</a:t>
            </a:r>
            <a:endParaRPr lang="en-US" altLang="zh-CN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818120" y="1691640"/>
            <a:ext cx="196596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0" y="1920240"/>
            <a:ext cx="640080" cy="384048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1965960"/>
            <a:ext cx="64008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04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01000" y="2514600"/>
            <a:ext cx="16002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E2A48"/>
                </a:solidFill>
                <a:latin typeface="PingFang SC" panose="020B0400000000000000" charset="-122"/>
              </a:rPr>
              <a:t>多 AI 协同</a:t>
            </a:r>
            <a:r>
              <a:rPr lang="zh-CN" sz="1900" b="1" i="0">
                <a:solidFill>
                  <a:srgbClr val="1E2A48"/>
                </a:solidFill>
                <a:latin typeface="PingFang SC" panose="020B0400000000000000" charset="-122"/>
              </a:rPr>
              <a:t>实践</a:t>
            </a:r>
            <a:endParaRPr lang="zh-CN" sz="19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01000" y="3154680"/>
            <a:ext cx="160020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模板、命令流、memory 和任务协议如何串成闭环</a:t>
            </a:r>
            <a:r>
              <a:rPr b="0" i="0">
                <a:solidFill>
                  <a:srgbClr val="464F5C"/>
                </a:solidFill>
                <a:latin typeface="PingFang SC" panose="020B0400000000000000" charset="-122"/>
              </a:rPr>
              <a:t>，怎么路由</a:t>
            </a:r>
            <a:endParaRPr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149840" y="1691640"/>
            <a:ext cx="123444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32720" y="1920240"/>
            <a:ext cx="640080" cy="384048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1965960"/>
            <a:ext cx="64008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05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32720" y="2514600"/>
            <a:ext cx="86868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zh-CN" sz="2000" b="1" i="0">
                <a:solidFill>
                  <a:srgbClr val="1E2A48"/>
                </a:solidFill>
                <a:latin typeface="PingFang SC" panose="020B0400000000000000" charset="-122"/>
              </a:rPr>
              <a:t>展望</a:t>
            </a:r>
            <a:endParaRPr lang="zh-CN" sz="20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332720" y="3154680"/>
            <a:ext cx="868680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zh-CN" b="0" i="0">
                <a:solidFill>
                  <a:srgbClr val="464F5C"/>
                </a:solidFill>
                <a:latin typeface="PingFang SC" panose="020B0400000000000000" charset="-122"/>
              </a:rPr>
              <a:t>讨论</a:t>
            </a:r>
            <a:endParaRPr lang="zh-CN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01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AI 写 Demo 轻松，进工程就翻车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从业者真正关心的不是“能写”，而是“能不能稳定地在真实工程里工作”。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8" y="2011680"/>
            <a:ext cx="52578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21408"/>
            <a:ext cx="49286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Demo 世界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4928616" cy="26243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单文件、零依赖、上下文封闭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结果以“跑起来”为主，不太追究历史包袱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模型只要顺着题意补全，就容易看起来很聪明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99632" y="2011680"/>
            <a:ext cx="5257800" cy="324612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121408"/>
            <a:ext cx="49286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工程世界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64224" y="2487168"/>
            <a:ext cx="4928616" cy="26243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多仓库、多角色、多阶段约束叠在一起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老代码、边界条件、协作流程都要兼容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一旦上下文组织得不好，AI 会非常自信地跑偏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5486400"/>
            <a:ext cx="10744200" cy="512064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05272"/>
            <a:ext cx="10332720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7E500"/>
                </a:solidFill>
                <a:latin typeface="PingFang SC" panose="020B0400000000000000" charset="-122"/>
              </a:rPr>
              <a:t>差的通常不是模型强不强，而是上下文有没有被组织成模型能吃下去的样子。</a:t>
            </a:r>
            <a:endParaRPr sz="1800" b="1" i="0">
              <a:solidFill>
                <a:srgbClr val="F7E500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venir Next" panose="020B0803020202020204"/>
              </a:rPr>
              <a:t>01</a:t>
            </a:r>
            <a:endParaRPr sz="17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745"/>
            <a:ext cx="10725785" cy="594360"/>
          </a:xfrm>
          <a:prstGeom prst="rect">
            <a:avLst/>
          </a:prstGeom>
          <a:noFill/>
        </p:spPr>
        <p:txBody>
          <a:bodyPr wrap="square" anchor="t">
            <a:normAutofit fontScale="80000"/>
          </a:bodyPr>
          <a:lstStyle/>
          <a:p>
            <a:pPr algn="l">
              <a:spcAft>
                <a:spcPts val="600"/>
              </a:spcAft>
            </a:pPr>
            <a:r>
              <a:rPr lang="en-US" sz="2800" b="1" i="0">
                <a:solidFill>
                  <a:srgbClr val="1E2A48"/>
                </a:solidFill>
                <a:latin typeface="PingFang SC" panose="020B0400000000000000" charset="-122"/>
              </a:rPr>
              <a:t>SuBase </a:t>
            </a:r>
            <a:r>
              <a:rPr lang="zh-CN" altLang="en-US" sz="2800" b="1" i="0">
                <a:solidFill>
                  <a:srgbClr val="1E2A48"/>
                </a:solidFill>
                <a:latin typeface="PingFang SC" panose="020B0400000000000000" charset="-122"/>
              </a:rPr>
              <a:t>：算苗</a:t>
            </a:r>
            <a:r>
              <a:rPr lang="en-US" altLang="zh-CN" sz="2800" b="1" i="0">
                <a:solidFill>
                  <a:srgbClr val="1E2A48"/>
                </a:solidFill>
                <a:latin typeface="PingFang SC" panose="020B0400000000000000" charset="-122"/>
              </a:rPr>
              <a:t> AI </a:t>
            </a:r>
            <a:r>
              <a:rPr lang="zh-CN" altLang="en-US" sz="2800" b="1" i="0">
                <a:solidFill>
                  <a:srgbClr val="1E2A48"/>
                </a:solidFill>
                <a:latin typeface="PingFang SC" panose="020B0400000000000000" charset="-122"/>
              </a:rPr>
              <a:t>芯片（</a:t>
            </a:r>
            <a:r>
              <a:rPr lang="en-US" altLang="zh-CN" sz="2800" b="1" i="0">
                <a:solidFill>
                  <a:srgbClr val="1E2A48"/>
                </a:solidFill>
                <a:latin typeface="PingFang SC" panose="020B0400000000000000" charset="-122"/>
              </a:rPr>
              <a:t>ZPU</a:t>
            </a:r>
            <a:r>
              <a:rPr lang="zh-CN" altLang="en-US" sz="2800" b="1" i="0">
                <a:solidFill>
                  <a:srgbClr val="1E2A48"/>
                </a:solidFill>
                <a:latin typeface="PingFang SC" panose="020B0400000000000000" charset="-122"/>
              </a:rPr>
              <a:t>）设计和开发的</a:t>
            </a:r>
            <a:r>
              <a:rPr lang="en-US" altLang="zh-CN" sz="2800" b="1" i="0">
                <a:solidFill>
                  <a:srgbClr val="1E2A48"/>
                </a:solidFill>
                <a:latin typeface="PingFang SC" panose="020B0400000000000000" charset="-122"/>
              </a:rPr>
              <a:t> AI </a:t>
            </a:r>
            <a:r>
              <a:rPr lang="zh-CN" altLang="en-US" sz="2800" b="1" i="0">
                <a:solidFill>
                  <a:srgbClr val="1E2A48"/>
                </a:solidFill>
                <a:latin typeface="PingFang SC" panose="020B0400000000000000" charset="-122"/>
              </a:rPr>
              <a:t>软件栈中和设备相关的子软件栈。</a:t>
            </a:r>
            <a:endParaRPr lang="zh-CN" altLang="en-US"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zh-CN" sz="1400" b="0" i="0">
                <a:solidFill>
                  <a:srgbClr val="6F7881"/>
                </a:solidFill>
                <a:latin typeface="PingFang SC" panose="020B0400000000000000" charset="-122"/>
              </a:rPr>
              <a:t>位于整个</a:t>
            </a:r>
            <a:r>
              <a:rPr lang="en-US" altLang="zh-CN" sz="1400" b="0" i="0">
                <a:solidFill>
                  <a:srgbClr val="6F7881"/>
                </a:solidFill>
                <a:latin typeface="PingFang SC" panose="020B0400000000000000" charset="-122"/>
              </a:rPr>
              <a:t>AI </a:t>
            </a:r>
            <a:r>
              <a:rPr lang="zh-CN" altLang="en-US" sz="1400" b="0" i="0">
                <a:solidFill>
                  <a:srgbClr val="6F7881"/>
                </a:solidFill>
                <a:latin typeface="PingFang SC" panose="020B0400000000000000" charset="-122"/>
              </a:rPr>
              <a:t>软件栈的</a:t>
            </a:r>
            <a:r>
              <a:rPr lang="zh-CN" altLang="en-US" sz="1400" b="0" i="0">
                <a:solidFill>
                  <a:srgbClr val="6F7881"/>
                </a:solidFill>
                <a:latin typeface="PingFang SC" panose="020B0400000000000000" charset="-122"/>
              </a:rPr>
              <a:t>核心</a:t>
            </a:r>
            <a:endParaRPr lang="zh-CN" altLang="en-US"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8" y="2011680"/>
            <a:ext cx="52578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21408"/>
            <a:ext cx="49286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zh-CN" sz="1700" b="1" i="0">
                <a:solidFill>
                  <a:srgbClr val="1E2A48"/>
                </a:solidFill>
                <a:latin typeface="PingFang SC" panose="020B0400000000000000" charset="-122"/>
              </a:rPr>
              <a:t>向上对接</a:t>
            </a:r>
            <a:r>
              <a:rPr lang="zh-CN" b="1" i="0">
                <a:solidFill>
                  <a:srgbClr val="1E2A48"/>
                </a:solidFill>
                <a:latin typeface="PingFang SC" panose="020B0400000000000000" charset="-122"/>
              </a:rPr>
              <a:t>各种</a:t>
            </a:r>
            <a:r>
              <a:rPr lang="en-US" altLang="zh-CN" sz="1700" b="1" i="0">
                <a:solidFill>
                  <a:srgbClr val="1E2A48"/>
                </a:solidFill>
                <a:latin typeface="PingFang SC" panose="020B0400000000000000" charset="-122"/>
              </a:rPr>
              <a:t>AI</a:t>
            </a:r>
            <a:r>
              <a:rPr lang="zh-CN" altLang="en-US" sz="1700" b="1" i="0">
                <a:solidFill>
                  <a:srgbClr val="1E2A48"/>
                </a:solidFill>
                <a:latin typeface="PingFang SC" panose="020B0400000000000000" charset="-122"/>
              </a:rPr>
              <a:t>框架</a:t>
            </a:r>
            <a:endParaRPr lang="zh-CN" altLang="en-US" sz="17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4928616" cy="26243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</a:t>
            </a:r>
            <a:r>
              <a:rPr lang="en-US" sz="1500" b="0" i="0">
                <a:solidFill>
                  <a:srgbClr val="464F5C"/>
                </a:solidFill>
                <a:latin typeface="PingFang SC" panose="020B0400000000000000" charset="-122"/>
              </a:rPr>
              <a:t>vLLM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</a:t>
            </a:r>
            <a:r>
              <a:rPr lang="en-US" sz="1500" b="0" i="0">
                <a:solidFill>
                  <a:srgbClr val="464F5C"/>
                </a:solidFill>
                <a:latin typeface="PingFang SC" panose="020B0400000000000000" charset="-122"/>
              </a:rPr>
              <a:t>llama.cpp</a:t>
            </a: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</a:t>
            </a:r>
            <a:r>
              <a:rPr lang="en-US" sz="1500" b="0" i="0">
                <a:solidFill>
                  <a:srgbClr val="464F5C"/>
                </a:solidFill>
                <a:latin typeface="PingFang SC" panose="020B0400000000000000" charset="-122"/>
              </a:rPr>
              <a:t>pytorch</a:t>
            </a: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• </a:t>
            </a:r>
            <a:r>
              <a:rPr lang="en-US"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ASIC</a:t>
            </a: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• </a:t>
            </a:r>
            <a:r>
              <a:rPr lang="en-US"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FPGA</a:t>
            </a: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• </a:t>
            </a:r>
            <a:r>
              <a:rPr lang="en-US"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gem5</a:t>
            </a: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• </a:t>
            </a:r>
            <a:r>
              <a:rPr lang="en-US"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GPU Mocking</a:t>
            </a: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99632" y="2011680"/>
            <a:ext cx="5257800" cy="324612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129" y="3428873"/>
            <a:ext cx="49286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zh-CN" sz="1700" b="1">
                <a:solidFill>
                  <a:srgbClr val="1E2A48"/>
                </a:solidFill>
                <a:latin typeface="PingFang SC" panose="020B0400000000000000" charset="-122"/>
                <a:sym typeface="+mn-ea"/>
              </a:rPr>
              <a:t>向下对接各种适配器</a:t>
            </a:r>
            <a:endParaRPr lang="zh-CN" sz="1700" b="1">
              <a:solidFill>
                <a:srgbClr val="1E2A48"/>
              </a:solidFill>
              <a:latin typeface="PingFang SC" panose="020B0400000000000000" charset="-122"/>
              <a:sym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64224" y="2487168"/>
            <a:ext cx="4928616" cy="26243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</a:t>
            </a:r>
            <a:r>
              <a:rPr lang="en-US" sz="1500" b="0" i="0">
                <a:solidFill>
                  <a:srgbClr val="464F5C"/>
                </a:solidFill>
                <a:latin typeface="PingFang SC" panose="020B0400000000000000" charset="-122"/>
              </a:rPr>
              <a:t>Runtime</a:t>
            </a: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• </a:t>
            </a:r>
            <a:r>
              <a:rPr lang="en-US"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Driver</a:t>
            </a: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• </a:t>
            </a:r>
            <a:r>
              <a:rPr lang="en-US"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M</a:t>
            </a:r>
            <a:r>
              <a:rPr lang="en-US" altLang="zh-CN" sz="1500" b="0" i="0">
                <a:solidFill>
                  <a:srgbClr val="464F5C"/>
                </a:solidFill>
                <a:latin typeface="PingFang SC" panose="020B0400000000000000" charset="-122"/>
              </a:rPr>
              <a:t>anagement</a:t>
            </a:r>
            <a:endParaRPr lang="en-US" altLang="zh-CN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• </a:t>
            </a:r>
            <a:r>
              <a:rPr lang="en-US"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Linux Mocking</a:t>
            </a: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endParaRPr 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5486400"/>
            <a:ext cx="10744200" cy="512064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05272"/>
            <a:ext cx="103327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1700" b="1" i="0">
                <a:solidFill>
                  <a:srgbClr val="F7E500"/>
                </a:solidFill>
                <a:latin typeface="PingFang SC" panose="020B0400000000000000" charset="-122"/>
              </a:rPr>
              <a:t>上下文大的可怕，不可能一起喂给</a:t>
            </a:r>
            <a:r>
              <a:rPr lang="zh-CN" altLang="en-US" sz="1700" b="1" i="0">
                <a:solidFill>
                  <a:srgbClr val="F7E500"/>
                </a:solidFill>
                <a:latin typeface="PingFang SC" panose="020B0400000000000000" charset="-122"/>
              </a:rPr>
              <a:t>模型</a:t>
            </a:r>
            <a:endParaRPr lang="zh-CN" altLang="en-US" sz="1700" b="1" i="0">
              <a:solidFill>
                <a:srgbClr val="F7E500"/>
              </a:solidFill>
              <a:latin typeface="PingFang SC" panose="020B0400000000000000" charset="-122"/>
            </a:endParaRPr>
          </a:p>
        </p:txBody>
      </p:sp>
      <p:sp>
        <p:nvSpPr>
          <p:cNvPr id="20" name="TextBox 15"/>
          <p:cNvSpPr txBox="1"/>
          <p:nvPr/>
        </p:nvSpPr>
        <p:spPr>
          <a:xfrm>
            <a:off x="6364224" y="2111883"/>
            <a:ext cx="49286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zh-CN" sz="1700" b="1">
                <a:solidFill>
                  <a:srgbClr val="1E2A48"/>
                </a:solidFill>
                <a:latin typeface="PingFang SC" panose="020B0400000000000000" charset="-122"/>
                <a:sym typeface="+mn-ea"/>
              </a:rPr>
              <a:t>内部组件</a:t>
            </a:r>
            <a:r>
              <a:rPr lang="zh-CN" sz="1700" b="1">
                <a:solidFill>
                  <a:srgbClr val="1E2A48"/>
                </a:solidFill>
                <a:latin typeface="PingFang SC" panose="020B0400000000000000" charset="-122"/>
                <a:sym typeface="+mn-ea"/>
              </a:rPr>
              <a:t>众多</a:t>
            </a:r>
            <a:endParaRPr lang="zh-CN" sz="1700" b="1">
              <a:solidFill>
                <a:srgbClr val="1E2A48"/>
              </a:solidFill>
              <a:latin typeface="PingFang SC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02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2800" b="1">
                <a:solidFill>
                  <a:srgbClr val="1E2A48"/>
                </a:solidFill>
                <a:latin typeface="PingFang SC" panose="020B0400000000000000" charset="-122"/>
                <a:sym typeface="+mn-ea"/>
              </a:rPr>
              <a:t>AI</a:t>
            </a:r>
            <a:r>
              <a:rPr lang="zh-CN" altLang="en-US" sz="2800" b="1">
                <a:solidFill>
                  <a:srgbClr val="1E2A48"/>
                </a:solidFill>
                <a:latin typeface="PingFang SC" panose="020B0400000000000000" charset="-122"/>
                <a:sym typeface="+mn-ea"/>
              </a:rPr>
              <a:t>协作的</a:t>
            </a: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一条真实故障排查链路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8" y="1965960"/>
            <a:ext cx="6355080" cy="438912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066544"/>
            <a:ext cx="58978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zh-CN" sz="1400" b="0" i="0">
                <a:solidFill>
                  <a:srgbClr val="FFFFFF"/>
                </a:solidFill>
                <a:latin typeface="PingFang SC" panose="020B0400000000000000" charset="-122"/>
              </a:rPr>
              <a:t>一个</a:t>
            </a:r>
            <a:r>
              <a:rPr lang="en-US" altLang="zh-CN" sz="1400" b="0" i="0">
                <a:solidFill>
                  <a:srgbClr val="FFFFFF"/>
                </a:solidFill>
                <a:latin typeface="PingFang SC" panose="020B0400000000000000" charset="-122"/>
              </a:rPr>
              <a:t>gem5</a:t>
            </a:r>
            <a:r>
              <a:rPr sz="1400" b="0" i="0">
                <a:solidFill>
                  <a:srgbClr val="FFFFFF"/>
                </a:solidFill>
                <a:latin typeface="PingFang SC" panose="020B0400000000000000" charset="-122"/>
              </a:rPr>
              <a:t>回归阶段持续 panic / illegal access</a:t>
            </a:r>
            <a:endParaRPr sz="14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2542032"/>
            <a:ext cx="6355080" cy="438912"/>
          </a:xfrm>
          <a:prstGeom prst="round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642616"/>
            <a:ext cx="58978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61B21"/>
                </a:solidFill>
                <a:latin typeface="PingFang SC" panose="020B0400000000000000" charset="-122"/>
              </a:rPr>
              <a:t>确认架构访问限制，不是所有</a:t>
            </a:r>
            <a:r>
              <a:rPr lang="zh-CN" sz="1400" b="0" i="0">
                <a:solidFill>
                  <a:srgbClr val="161B21"/>
                </a:solidFill>
                <a:latin typeface="PingFang SC" panose="020B0400000000000000" charset="-122"/>
              </a:rPr>
              <a:t>地址空间</a:t>
            </a:r>
            <a:r>
              <a:rPr sz="1400" b="0" i="0">
                <a:solidFill>
                  <a:srgbClr val="161B21"/>
                </a:solidFill>
                <a:latin typeface="PingFang SC" panose="020B0400000000000000" charset="-122"/>
              </a:rPr>
              <a:t>都能直接</a:t>
            </a:r>
            <a:r>
              <a:rPr lang="zh-CN" sz="1400" b="0" i="0">
                <a:solidFill>
                  <a:srgbClr val="161B21"/>
                </a:solidFill>
                <a:latin typeface="PingFang SC" panose="020B0400000000000000" charset="-122"/>
              </a:rPr>
              <a:t>访问</a:t>
            </a:r>
            <a:endParaRPr lang="zh-CN" sz="1400" b="0" i="0">
              <a:solidFill>
                <a:srgbClr val="161B21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9808" y="3118104"/>
            <a:ext cx="6355080" cy="438912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218688"/>
            <a:ext cx="5897880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PingFang SC" panose="020B0400000000000000" charset="-122"/>
              </a:rPr>
              <a:t>核对数据流和预加载路径，发现模式不一致</a:t>
            </a:r>
            <a:endParaRPr sz="14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694176"/>
            <a:ext cx="6355080" cy="438912"/>
          </a:xfrm>
          <a:prstGeom prst="round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794760"/>
            <a:ext cx="5897880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61B21"/>
                </a:solidFill>
                <a:latin typeface="PingFang SC" panose="020B0400000000000000" charset="-122"/>
              </a:rPr>
              <a:t>从异常地址回溯到内核侧逻辑，定位错误来源</a:t>
            </a:r>
            <a:endParaRPr sz="1400" b="0" i="0">
              <a:solidFill>
                <a:srgbClr val="161B21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9808" y="4270248"/>
            <a:ext cx="6355080" cy="438912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370832"/>
            <a:ext cx="58978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PingFang SC" panose="020B0400000000000000" charset="-122"/>
              </a:rPr>
              <a:t>修正 </a:t>
            </a:r>
            <a:r>
              <a:rPr lang="en-US" sz="1300" b="0" i="0">
                <a:solidFill>
                  <a:srgbClr val="FFFFFF"/>
                </a:solidFill>
                <a:latin typeface="PingFang SC" panose="020B0400000000000000" charset="-122"/>
              </a:rPr>
              <a:t>Su</a:t>
            </a:r>
            <a:r>
              <a:rPr lang="en-US" sz="1300" b="0" i="0">
                <a:solidFill>
                  <a:srgbClr val="FFFFFF"/>
                </a:solidFill>
                <a:latin typeface="PingFang SC" panose="020B0400000000000000" charset="-122"/>
              </a:rPr>
              <a:t>Base</a:t>
            </a:r>
            <a:r>
              <a:rPr lang="zh-CN" altLang="en-US" sz="1300" b="0" i="0">
                <a:solidFill>
                  <a:srgbClr val="FFFFFF"/>
                </a:solidFill>
                <a:latin typeface="PingFang SC" panose="020B0400000000000000" charset="-122"/>
              </a:rPr>
              <a:t>侧驱动</a:t>
            </a:r>
            <a:r>
              <a:rPr sz="1300" b="0" i="0">
                <a:solidFill>
                  <a:srgbClr val="FFFFFF"/>
                </a:solidFill>
                <a:latin typeface="PingFang SC" panose="020B0400000000000000" charset="-122"/>
              </a:rPr>
              <a:t>与脚本配置，补齐启动前准备</a:t>
            </a:r>
            <a:endParaRPr sz="13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49808" y="4846320"/>
            <a:ext cx="6355080" cy="438912"/>
          </a:xfrm>
          <a:prstGeom prst="round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946904"/>
            <a:ext cx="5897880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61B21"/>
                </a:solidFill>
                <a:latin typeface="PingFang SC" panose="020B0400000000000000" charset="-122"/>
              </a:rPr>
              <a:t>统一参数尺寸与对齐规则，完成链路闭环</a:t>
            </a:r>
            <a:endParaRPr sz="1400" b="0" i="0">
              <a:solidFill>
                <a:srgbClr val="161B21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98079" y="2057400"/>
            <a:ext cx="329184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2A48"/>
                </a:solidFill>
                <a:latin typeface="PingFang SC" panose="020B0400000000000000" charset="-122"/>
              </a:rPr>
              <a:t>这个案例意味着什么</a:t>
            </a:r>
            <a:endParaRPr sz="20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452360" y="2514600"/>
            <a:ext cx="1005840" cy="82296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660904"/>
            <a:ext cx="1005840" cy="457200"/>
          </a:xfrm>
          <a:prstGeom prst="rect">
            <a:avLst/>
          </a:prstGeom>
          <a:noFill/>
        </p:spPr>
        <p:txBody>
          <a:bodyPr wrap="square" anchor="t">
            <a:normAutofit fontScale="70000"/>
          </a:bodyPr>
          <a:lstStyle/>
          <a:p>
            <a:pPr algn="ctr">
              <a:spcAft>
                <a:spcPts val="600"/>
              </a:spcAft>
            </a:pPr>
            <a:r>
              <a:rPr lang="en-US" sz="2800" b="1" i="0">
                <a:solidFill>
                  <a:srgbClr val="F7E500"/>
                </a:solidFill>
                <a:latin typeface="Avenir Next" panose="020B0803020202020204"/>
              </a:rPr>
              <a:t>80W</a:t>
            </a:r>
            <a:r>
              <a:rPr sz="2800" b="1" i="0">
                <a:solidFill>
                  <a:srgbClr val="F7E500"/>
                </a:solidFill>
                <a:latin typeface="Avenir Next" panose="020B0803020202020204"/>
              </a:rPr>
              <a:t>+</a:t>
            </a:r>
            <a:endParaRPr sz="2800" b="1" i="0">
              <a:solidFill>
                <a:srgbClr val="F7E500"/>
              </a:solidFill>
              <a:latin typeface="Avenir Next" panose="020B0803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25512" y="3077718"/>
            <a:ext cx="859536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zh-CN" sz="1300" b="0" i="0">
                <a:solidFill>
                  <a:srgbClr val="FFFFFF"/>
                </a:solidFill>
                <a:latin typeface="PingFang SC" panose="020B0400000000000000" charset="-122"/>
              </a:rPr>
              <a:t>代码</a:t>
            </a:r>
            <a:endParaRPr lang="zh-CN" sz="13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452360" y="3520440"/>
            <a:ext cx="1005840" cy="82296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3666744"/>
            <a:ext cx="1005840" cy="457200"/>
          </a:xfrm>
          <a:prstGeom prst="rect">
            <a:avLst/>
          </a:prstGeom>
          <a:noFill/>
        </p:spPr>
        <p:txBody>
          <a:bodyPr wrap="square" anchor="t">
            <a:normAutofit fontScale="80000"/>
          </a:bodyPr>
          <a:lstStyle/>
          <a:p>
            <a:pPr algn="ctr">
              <a:spcAft>
                <a:spcPts val="600"/>
              </a:spcAft>
            </a:pPr>
            <a:r>
              <a:rPr lang="en-US" sz="2800" b="1" i="0">
                <a:solidFill>
                  <a:srgbClr val="F7E500"/>
                </a:solidFill>
                <a:latin typeface="Avenir Next" panose="020B0803020202020204"/>
              </a:rPr>
              <a:t>200+</a:t>
            </a:r>
            <a:endParaRPr lang="en-US" sz="2800" b="1" i="0">
              <a:solidFill>
                <a:srgbClr val="F7E500"/>
              </a:solidFill>
              <a:latin typeface="Avenir Next" panose="020B0803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25512" y="4083558"/>
            <a:ext cx="859536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zh-CN" sz="1300" b="0" i="0">
                <a:solidFill>
                  <a:srgbClr val="FFFFFF"/>
                </a:solidFill>
                <a:latin typeface="PingFang SC" panose="020B0400000000000000" charset="-122"/>
              </a:rPr>
              <a:t>文档</a:t>
            </a:r>
            <a:endParaRPr lang="zh-CN" sz="13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452360" y="4526280"/>
            <a:ext cx="1005840" cy="82296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4672584"/>
            <a:ext cx="100584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F7E500"/>
                </a:solidFill>
                <a:latin typeface="Avenir Next" panose="020B0803020202020204"/>
              </a:rPr>
              <a:t>8</a:t>
            </a:r>
            <a:endParaRPr sz="2800" b="1" i="0">
              <a:solidFill>
                <a:srgbClr val="F7E500"/>
              </a:solidFill>
              <a:latin typeface="Avenir Next" panose="020B0803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25512" y="5089398"/>
            <a:ext cx="859536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PingFang SC" panose="020B0400000000000000" charset="-122"/>
              </a:rPr>
              <a:t>相关仓库</a:t>
            </a:r>
            <a:endParaRPr sz="13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595360" y="2514600"/>
            <a:ext cx="28346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9952" y="2624328"/>
            <a:ext cx="2505456" cy="320040"/>
          </a:xfrm>
          <a:prstGeom prst="rect">
            <a:avLst/>
          </a:prstGeom>
          <a:noFill/>
        </p:spPr>
        <p:txBody>
          <a:bodyPr wrap="square" anchor="t">
            <a:normAutofit fontScale="80000"/>
          </a:bodyPr>
          <a:lstStyle/>
          <a:p>
            <a:pPr algn="l">
              <a:spcAft>
                <a:spcPts val="600"/>
              </a:spcAft>
            </a:pPr>
            <a:endParaRPr lang="zh-CN"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759952" y="2990088"/>
            <a:ext cx="2505456" cy="2487168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</a:t>
            </a:r>
            <a:r>
              <a:rPr lang="en-US" sz="1500" b="0" i="0">
                <a:solidFill>
                  <a:srgbClr val="464F5C"/>
                </a:solidFill>
                <a:latin typeface="PingFang SC" panose="020B0400000000000000" charset="-122"/>
              </a:rPr>
              <a:t>context</a:t>
            </a:r>
            <a:r>
              <a:rPr lang="zh-CN" altLang="en-US" sz="1500" b="0" i="0">
                <a:solidFill>
                  <a:srgbClr val="464F5C"/>
                </a:solidFill>
                <a:latin typeface="PingFang SC" panose="020B0400000000000000" charset="-122"/>
              </a:rPr>
              <a:t>受限，导致</a:t>
            </a: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日志、代码、经验</a:t>
            </a:r>
            <a:r>
              <a:rPr lang="zh-CN" sz="1500" b="0" i="0">
                <a:solidFill>
                  <a:srgbClr val="464F5C"/>
                </a:solidFill>
                <a:latin typeface="PingFang SC" panose="020B0400000000000000" charset="-122"/>
              </a:rPr>
              <a:t>只能</a:t>
            </a: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分散在不同</a:t>
            </a:r>
            <a:r>
              <a:rPr lang="en-US" sz="1500" b="0" i="0">
                <a:solidFill>
                  <a:srgbClr val="464F5C"/>
                </a:solidFill>
                <a:latin typeface="PingFang SC" panose="020B0400000000000000" charset="-122"/>
              </a:rPr>
              <a:t>AI</a:t>
            </a: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对话里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每个</a:t>
            </a:r>
            <a:r>
              <a:rPr lang="zh-CN" sz="1500" b="0" i="0">
                <a:solidFill>
                  <a:srgbClr val="464F5C"/>
                </a:solidFill>
                <a:latin typeface="PingFang SC" panose="020B0400000000000000" charset="-122"/>
              </a:rPr>
              <a:t>对话</a:t>
            </a: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只看到局部，很难形成完整判断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人只能重复转述事实，精力都花在搬运信息上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02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所有问题最后都</a:t>
            </a:r>
            <a:r>
              <a:rPr lang="zh-CN" sz="2800" b="1" i="0">
                <a:solidFill>
                  <a:srgbClr val="1E2A48"/>
                </a:solidFill>
                <a:latin typeface="PingFang SC" panose="020B0400000000000000" charset="-122"/>
              </a:rPr>
              <a:t>归因</a:t>
            </a: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到两个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工程化 AI 编程的大多数事故，都能归因到 Context 受限或 Context 污染。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8680" y="2063115"/>
            <a:ext cx="493776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2063115"/>
            <a:ext cx="4937760" cy="329184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291715"/>
            <a:ext cx="44805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E2A48"/>
                </a:solidFill>
                <a:latin typeface="PingFang SC" panose="020B0400000000000000" charset="-122"/>
              </a:rPr>
              <a:t>Context 受限</a:t>
            </a:r>
            <a:endParaRPr sz="24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55080" y="2291715"/>
            <a:ext cx="44805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E2A48"/>
                </a:solidFill>
                <a:latin typeface="PingFang SC" panose="020B0400000000000000" charset="-122"/>
              </a:rPr>
              <a:t>Context 污染</a:t>
            </a:r>
            <a:endParaRPr sz="24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2886075"/>
            <a:ext cx="4297680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464F5C"/>
                </a:solidFill>
                <a:latin typeface="PingFang SC" panose="020B0400000000000000" charset="-122"/>
              </a:rPr>
              <a:t>• 项目信息远超单次窗口容量</a:t>
            </a:r>
            <a:endParaRPr sz="18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464F5C"/>
                </a:solidFill>
                <a:latin typeface="PingFang SC" panose="020B0400000000000000" charset="-122"/>
              </a:rPr>
              <a:t>• 关键约束、历史坑点、目录关系塞不进去</a:t>
            </a:r>
            <a:endParaRPr sz="18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464F5C"/>
                </a:solidFill>
                <a:latin typeface="PingFang SC" panose="020B0400000000000000" charset="-122"/>
              </a:rPr>
              <a:t>• AI 做出的选择缺少真正的边界依据</a:t>
            </a:r>
            <a:endParaRPr sz="18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5080" y="2886075"/>
            <a:ext cx="4297680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464F5C"/>
                </a:solidFill>
                <a:latin typeface="PingFang SC" panose="020B0400000000000000" charset="-122"/>
              </a:rPr>
              <a:t>• 旧对话、无关代码、错误假设一起混进来</a:t>
            </a:r>
            <a:endParaRPr sz="18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464F5C"/>
                </a:solidFill>
                <a:latin typeface="PingFang SC" panose="020B0400000000000000" charset="-122"/>
              </a:rPr>
              <a:t>• 模型沿着错误前提继续推理和修改</a:t>
            </a:r>
            <a:endParaRPr sz="18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464F5C"/>
                </a:solidFill>
                <a:latin typeface="PingFang SC" panose="020B0400000000000000" charset="-122"/>
              </a:rPr>
              <a:t>• 结果常常不是不会做，而是越做越偏</a:t>
            </a:r>
            <a:endParaRPr sz="18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554480" y="5556123"/>
            <a:ext cx="9052560" cy="45720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5656707"/>
            <a:ext cx="850392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7E500"/>
                </a:solidFill>
                <a:latin typeface="PingFang SC" panose="020B0400000000000000" charset="-122"/>
              </a:rPr>
              <a:t>所以真正的解法不是“多试几次 Prompt”，而是先把 Context 管好</a:t>
            </a:r>
            <a:endParaRPr sz="1800" b="1" i="0">
              <a:solidFill>
                <a:srgbClr val="F7E500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venir Next" panose="020B0803020202020204"/>
              </a:rPr>
              <a:t>0</a:t>
            </a:r>
            <a:r>
              <a:rPr lang="en-US" sz="1700" b="1" i="0">
                <a:solidFill>
                  <a:srgbClr val="FFFFFF"/>
                </a:solidFill>
                <a:latin typeface="Avenir Next" panose="020B0803020202020204"/>
              </a:rPr>
              <a:t>3</a:t>
            </a:r>
            <a:endParaRPr lang="en-US" sz="17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745"/>
            <a:ext cx="84328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altLang="zh-CN" sz="2800" b="1" i="0">
                <a:solidFill>
                  <a:srgbClr val="1E2A48"/>
                </a:solidFill>
                <a:latin typeface="PingFang SC" panose="020B0400000000000000" charset="-122"/>
              </a:rPr>
              <a:t>AI</a:t>
            </a:r>
            <a:r>
              <a:rPr lang="zh-CN" altLang="en-US" sz="2800" b="1" i="0">
                <a:solidFill>
                  <a:srgbClr val="1E2A48"/>
                </a:solidFill>
                <a:latin typeface="PingFang SC" panose="020B0400000000000000" charset="-122"/>
              </a:rPr>
              <a:t>友好的开发环境：</a:t>
            </a:r>
            <a:r>
              <a:rPr lang="zh-CN" sz="2800" b="1" i="0">
                <a:solidFill>
                  <a:srgbClr val="1E2A48"/>
                </a:solidFill>
                <a:latin typeface="PingFang SC" panose="020B0400000000000000" charset="-122"/>
              </a:rPr>
              <a:t>三个方面</a:t>
            </a: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解决这两个问题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每</a:t>
            </a:r>
            <a:r>
              <a:rPr lang="zh-CN" sz="1400" b="0" i="0">
                <a:solidFill>
                  <a:srgbClr val="6F7881"/>
                </a:solidFill>
                <a:latin typeface="PingFang SC" panose="020B0400000000000000" charset="-122"/>
              </a:rPr>
              <a:t>方面</a:t>
            </a: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都不是抽象理念，而是在针对 Context 受限或污染下手。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>
            <p:custDataLst>
              <p:tags r:id="rId2"/>
            </p:custDataLst>
          </p:nvPr>
        </p:nvSpPr>
        <p:spPr>
          <a:xfrm>
            <a:off x="1282065" y="2011680"/>
            <a:ext cx="27432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1446657" y="2121408"/>
            <a:ext cx="24140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2A48"/>
                </a:solidFill>
                <a:latin typeface="PingFang SC" panose="020B0400000000000000" charset="-122"/>
              </a:rPr>
              <a:t>A</a:t>
            </a:r>
            <a:br>
              <a:rPr sz="1700" b="1" i="0">
                <a:solidFill>
                  <a:srgbClr val="1E2A48"/>
                </a:solidFill>
                <a:latin typeface="PingFang SC" panose="020B0400000000000000" charset="-122"/>
              </a:rPr>
            </a:br>
            <a:r>
              <a:rPr sz="1700"/>
              <a:t>边界清晰 + Mocking 兜底</a:t>
            </a:r>
            <a:endParaRPr sz="1700"/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1446530" y="2980690"/>
            <a:ext cx="2414270" cy="22225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边界内核心信息才进入 Context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边界外统一用 Mock 隔离无关复杂度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作用：减少冗余输入，避免污染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5"/>
            </p:custDataLst>
          </p:nvPr>
        </p:nvSpPr>
        <p:spPr>
          <a:xfrm>
            <a:off x="4482464" y="2011680"/>
            <a:ext cx="2743200" cy="333756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4647056" y="2121408"/>
            <a:ext cx="24140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2A48"/>
                </a:solidFill>
                <a:latin typeface="PingFang SC" panose="020B0400000000000000" charset="-122"/>
              </a:rPr>
              <a:t>B</a:t>
            </a:r>
            <a:br>
              <a:rPr sz="1700" b="1" i="0">
                <a:solidFill>
                  <a:srgbClr val="1E2A48"/>
                </a:solidFill>
                <a:latin typeface="PingFang SC" panose="020B0400000000000000" charset="-122"/>
              </a:rPr>
            </a:br>
            <a:r>
              <a:rPr sz="1700"/>
              <a:t>TDD 驱动的轻量化 Review</a:t>
            </a:r>
            <a:endParaRPr sz="1700"/>
          </a:p>
        </p:txBody>
      </p:sp>
      <p:sp>
        <p:nvSpPr>
          <p:cNvPr id="17" name="TextBox 16"/>
          <p:cNvSpPr txBox="1"/>
          <p:nvPr>
            <p:custDataLst>
              <p:tags r:id="rId7"/>
            </p:custDataLst>
          </p:nvPr>
        </p:nvSpPr>
        <p:spPr>
          <a:xfrm>
            <a:off x="4646930" y="2980690"/>
            <a:ext cx="2414270" cy="22225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测试用例把任务目标钉在可验收标准上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Review 只围绕用例和验收结论展开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作用：让 Context 聚焦核心目标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>
            <p:custDataLst>
              <p:tags r:id="rId8"/>
            </p:custDataLst>
          </p:nvPr>
        </p:nvSpPr>
        <p:spPr>
          <a:xfrm>
            <a:off x="7682865" y="2011680"/>
            <a:ext cx="27432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7847457" y="2121408"/>
            <a:ext cx="24140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2A48"/>
                </a:solidFill>
                <a:latin typeface="PingFang SC" panose="020B0400000000000000" charset="-122"/>
              </a:rPr>
              <a:t>C</a:t>
            </a:r>
            <a:br>
              <a:rPr sz="1700" b="1" i="0">
                <a:solidFill>
                  <a:srgbClr val="1E2A48"/>
                </a:solidFill>
                <a:latin typeface="PingFang SC" panose="020B0400000000000000" charset="-122"/>
              </a:rPr>
            </a:br>
            <a:r>
              <a:rPr sz="1700"/>
              <a:t>RAG + 多级索引的知识驱动</a:t>
            </a:r>
            <a:endParaRPr sz="1700"/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7847330" y="2980690"/>
            <a:ext cx="2414270" cy="22225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</a:t>
            </a:r>
            <a:r>
              <a:rPr lang="zh-CN"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在代码库之上，额外引入</a:t>
            </a: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本地知识库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通过多级索引 + RAG 精准检索相关片段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作用：补容量，同时输入保持干净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51560" y="5349240"/>
            <a:ext cx="9784080" cy="77724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venir Next" panose="020B0803020202020204"/>
              </a:rPr>
              <a:t>0</a:t>
            </a:r>
            <a:r>
              <a:rPr lang="en-US" sz="1700" b="1" i="0">
                <a:solidFill>
                  <a:srgbClr val="FFFFFF"/>
                </a:solidFill>
                <a:latin typeface="Avenir Next" panose="020B0803020202020204"/>
              </a:rPr>
              <a:t>3</a:t>
            </a:r>
            <a:endParaRPr lang="en-US" sz="17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745"/>
            <a:ext cx="84328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altLang="zh-CN" sz="2800" b="1" i="0">
                <a:solidFill>
                  <a:srgbClr val="1E2A48"/>
                </a:solidFill>
                <a:latin typeface="PingFang SC" panose="020B0400000000000000" charset="-122"/>
              </a:rPr>
              <a:t>AI</a:t>
            </a:r>
            <a:r>
              <a:rPr lang="zh-CN" altLang="en-US" sz="2800" b="1" i="0">
                <a:solidFill>
                  <a:srgbClr val="1E2A48"/>
                </a:solidFill>
                <a:latin typeface="PingFang SC" panose="020B0400000000000000" charset="-122"/>
              </a:rPr>
              <a:t>友好的开发环境：</a:t>
            </a:r>
            <a:r>
              <a:rPr lang="zh-CN" sz="2800" b="1" i="0">
                <a:solidFill>
                  <a:srgbClr val="1E2A48"/>
                </a:solidFill>
                <a:latin typeface="PingFang SC" panose="020B0400000000000000" charset="-122"/>
              </a:rPr>
              <a:t>三个方面</a:t>
            </a: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解决这两个问题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每</a:t>
            </a:r>
            <a:r>
              <a:rPr lang="zh-CN" sz="1400" b="0" i="0">
                <a:solidFill>
                  <a:srgbClr val="6F7881"/>
                </a:solidFill>
                <a:latin typeface="PingFang SC" panose="020B0400000000000000" charset="-122"/>
              </a:rPr>
              <a:t>方面</a:t>
            </a: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都不是抽象理念，而是在针对 Context 受限或污染下手。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>
            <p:custDataLst>
              <p:tags r:id="rId2"/>
            </p:custDataLst>
          </p:nvPr>
        </p:nvSpPr>
        <p:spPr>
          <a:xfrm>
            <a:off x="1282065" y="2011680"/>
            <a:ext cx="27432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1446657" y="2121408"/>
            <a:ext cx="24140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2A48"/>
                </a:solidFill>
                <a:latin typeface="PingFang SC" panose="020B0400000000000000" charset="-122"/>
              </a:rPr>
              <a:t>A</a:t>
            </a:r>
            <a:br>
              <a:rPr sz="1700" b="1" i="0">
                <a:solidFill>
                  <a:srgbClr val="1E2A48"/>
                </a:solidFill>
                <a:latin typeface="PingFang SC" panose="020B0400000000000000" charset="-122"/>
              </a:rPr>
            </a:br>
            <a:r>
              <a:rPr sz="1700"/>
              <a:t>边界清晰 + Mocking 兜底</a:t>
            </a:r>
            <a:endParaRPr sz="1700"/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1446530" y="2980690"/>
            <a:ext cx="2414270" cy="22225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边界内核心信息才进入 Context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边界外统一用 Mock 隔离无关复杂度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作用：减少冗余输入，避免污染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5"/>
            </p:custDataLst>
          </p:nvPr>
        </p:nvSpPr>
        <p:spPr>
          <a:xfrm>
            <a:off x="4482464" y="2011680"/>
            <a:ext cx="2743200" cy="333756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4647056" y="2121408"/>
            <a:ext cx="24140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2A48"/>
                </a:solidFill>
                <a:latin typeface="PingFang SC" panose="020B0400000000000000" charset="-122"/>
              </a:rPr>
              <a:t>B</a:t>
            </a:r>
            <a:br>
              <a:rPr sz="1700" b="1" i="0">
                <a:solidFill>
                  <a:srgbClr val="1E2A48"/>
                </a:solidFill>
                <a:latin typeface="PingFang SC" panose="020B0400000000000000" charset="-122"/>
              </a:rPr>
            </a:br>
            <a:r>
              <a:rPr sz="1700"/>
              <a:t>TDD 驱动的轻量化 Review</a:t>
            </a:r>
            <a:endParaRPr sz="1700"/>
          </a:p>
        </p:txBody>
      </p:sp>
      <p:sp>
        <p:nvSpPr>
          <p:cNvPr id="17" name="TextBox 16"/>
          <p:cNvSpPr txBox="1"/>
          <p:nvPr>
            <p:custDataLst>
              <p:tags r:id="rId7"/>
            </p:custDataLst>
          </p:nvPr>
        </p:nvSpPr>
        <p:spPr>
          <a:xfrm>
            <a:off x="4646930" y="2980690"/>
            <a:ext cx="2414270" cy="22225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测试用例把任务目标钉在可验收标准上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Review 只围绕用例和验收结论展开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作用：让 Context 聚焦核心目标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>
            <p:custDataLst>
              <p:tags r:id="rId8"/>
            </p:custDataLst>
          </p:nvPr>
        </p:nvSpPr>
        <p:spPr>
          <a:xfrm>
            <a:off x="7682865" y="2011680"/>
            <a:ext cx="274320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7847457" y="2121408"/>
            <a:ext cx="24140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2A48"/>
                </a:solidFill>
                <a:latin typeface="PingFang SC" panose="020B0400000000000000" charset="-122"/>
              </a:rPr>
              <a:t>C</a:t>
            </a:r>
            <a:br>
              <a:rPr sz="1700" b="1" i="0">
                <a:solidFill>
                  <a:srgbClr val="1E2A48"/>
                </a:solidFill>
                <a:latin typeface="PingFang SC" panose="020B0400000000000000" charset="-122"/>
              </a:rPr>
            </a:br>
            <a:r>
              <a:rPr sz="1700"/>
              <a:t>RAG + 多级索引的知识驱动</a:t>
            </a:r>
            <a:endParaRPr sz="1700"/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7847330" y="2980690"/>
            <a:ext cx="2414270" cy="22225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</a:t>
            </a:r>
            <a:r>
              <a:rPr lang="zh-CN" sz="1500" b="0" i="0">
                <a:solidFill>
                  <a:srgbClr val="464F5C"/>
                </a:solidFill>
                <a:latin typeface="PingFang SC" panose="020B0400000000000000" charset="-122"/>
              </a:rPr>
              <a:t>在代码库之上，额外引入</a:t>
            </a: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本地知识库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通过多级索引 + RAG 精准检索相关片段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作用：补容量，同时输入保持干净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51560" y="5349240"/>
            <a:ext cx="9784080" cy="77724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468620"/>
            <a:ext cx="9326880" cy="182880"/>
          </a:xfrm>
          <a:prstGeom prst="rect">
            <a:avLst/>
          </a:prstGeom>
          <a:noFill/>
        </p:spPr>
        <p:txBody>
          <a:bodyPr wrap="square" anchor="t">
            <a:normAutofit fontScale="25000"/>
          </a:bodyPr>
          <a:lstStyle/>
          <a:p>
            <a:pPr algn="ctr">
              <a:spcAft>
                <a:spcPts val="600"/>
              </a:spcAft>
            </a:pPr>
            <a:r>
              <a:rPr sz="7200" b="1">
                <a:solidFill>
                  <a:srgbClr val="F7E500"/>
                </a:solidFill>
                <a:latin typeface="PingFang SC" panose="020B0400000000000000" charset="-122"/>
                <a:sym typeface="+mn-ea"/>
              </a:rPr>
              <a:t>所以 AI 友好开发环境的核心，不是“让模型更努力”，而是“让 Context 更充足、更纯净”。</a:t>
            </a:r>
            <a:endParaRPr sz="7200" b="1" i="0">
              <a:solidFill>
                <a:srgbClr val="F7E500"/>
              </a:solidFill>
              <a:latin typeface="PingFang SC" panose="020B0400000000000000" charset="-122"/>
            </a:endParaRPr>
          </a:p>
          <a:p>
            <a:pPr algn="ctr">
              <a:spcAft>
                <a:spcPts val="600"/>
              </a:spcAft>
            </a:pPr>
            <a:r>
              <a:rPr sz="7200" b="1" i="0">
                <a:solidFill>
                  <a:srgbClr val="F7E500"/>
                </a:solidFill>
                <a:latin typeface="PingFang SC" panose="020B0400000000000000" charset="-122"/>
              </a:rPr>
              <a:t>A 和 B 主要负责“控污染”，C 负责“补容量 + 精准取数”，三者缺一不可。</a:t>
            </a:r>
            <a:endParaRPr sz="7200" b="1" i="0">
              <a:solidFill>
                <a:srgbClr val="F7E500"/>
              </a:solidFill>
              <a:latin typeface="PingFang SC" panose="020B0400000000000000" charset="-122"/>
            </a:endParaRPr>
          </a:p>
        </p:txBody>
      </p:sp>
      <p:sp>
        <p:nvSpPr>
          <p:cNvPr id="25" name="TextBox 8"/>
          <p:cNvSpPr txBox="1"/>
          <p:nvPr/>
        </p:nvSpPr>
        <p:spPr>
          <a:xfrm>
            <a:off x="1446530" y="4745990"/>
            <a:ext cx="8432800" cy="603250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ctr">
              <a:spcAft>
                <a:spcPts val="600"/>
              </a:spcAft>
            </a:pPr>
            <a:r>
              <a:rPr lang="zh-CN" sz="1400" b="0" i="0">
                <a:solidFill>
                  <a:srgbClr val="6F7881"/>
                </a:solidFill>
                <a:latin typeface="PingFang SC" panose="020B0400000000000000" charset="-122"/>
              </a:rPr>
              <a:t>最近几个月</a:t>
            </a:r>
            <a:r>
              <a:rPr lang="en-US" altLang="zh-CN" sz="1400" b="0" i="0">
                <a:solidFill>
                  <a:srgbClr val="6F7881"/>
                </a:solidFill>
                <a:latin typeface="PingFang SC" panose="020B0400000000000000" charset="-122"/>
              </a:rPr>
              <a:t>AI </a:t>
            </a:r>
            <a:r>
              <a:rPr lang="zh-CN" altLang="en-US" sz="1400" b="0" i="0">
                <a:solidFill>
                  <a:srgbClr val="6F7881"/>
                </a:solidFill>
                <a:latin typeface="PingFang SC" panose="020B0400000000000000" charset="-122"/>
              </a:rPr>
              <a:t>编程的工程化大方向：</a:t>
            </a:r>
            <a:r>
              <a:rPr lang="zh-CN" sz="1400" b="0" i="0">
                <a:solidFill>
                  <a:schemeClr val="tx1"/>
                </a:solidFill>
                <a:latin typeface="PingFang SC" panose="020B0400000000000000" charset="-122"/>
              </a:rPr>
              <a:t>提示词</a:t>
            </a:r>
            <a:r>
              <a:rPr lang="en-US" altLang="zh-CN" sz="1400" b="0" i="0">
                <a:solidFill>
                  <a:schemeClr val="tx1"/>
                </a:solidFill>
                <a:latin typeface="PingFang SC" panose="020B0400000000000000" charset="-122"/>
              </a:rPr>
              <a:t>(Prompt) =&gt; </a:t>
            </a:r>
            <a:r>
              <a:rPr lang="zh-CN" altLang="en-US" sz="1400" b="0" i="0">
                <a:solidFill>
                  <a:schemeClr val="tx1"/>
                </a:solidFill>
                <a:latin typeface="PingFang SC" panose="020B0400000000000000" charset="-122"/>
              </a:rPr>
              <a:t>上下文</a:t>
            </a:r>
            <a:r>
              <a:rPr lang="en-US" altLang="zh-CN" sz="1400" b="0" i="0">
                <a:solidFill>
                  <a:schemeClr val="tx1"/>
                </a:solidFill>
                <a:latin typeface="PingFang SC" panose="020B0400000000000000" charset="-122"/>
              </a:rPr>
              <a:t>(context) =&gt; </a:t>
            </a:r>
            <a:r>
              <a:rPr lang="zh-CN" altLang="en-US" sz="1400" b="0" i="0">
                <a:solidFill>
                  <a:schemeClr val="tx1"/>
                </a:solidFill>
                <a:latin typeface="PingFang SC" panose="020B0400000000000000" charset="-122"/>
              </a:rPr>
              <a:t>脚手架</a:t>
            </a:r>
            <a:r>
              <a:rPr lang="en-US" altLang="zh-CN" sz="1400" b="0" i="0">
                <a:solidFill>
                  <a:schemeClr val="tx1"/>
                </a:solidFill>
                <a:latin typeface="PingFang SC" panose="020B0400000000000000" charset="-122"/>
              </a:rPr>
              <a:t>(harness)</a:t>
            </a:r>
            <a:endParaRPr lang="en-US" altLang="zh-CN" sz="1400" b="0" i="0">
              <a:solidFill>
                <a:schemeClr val="tx1"/>
              </a:solidFill>
              <a:latin typeface="PingFang SC" panose="020B0400000000000000" charset="-122"/>
            </a:endParaRPr>
          </a:p>
          <a:p>
            <a:pPr algn="ctr">
              <a:spcAft>
                <a:spcPts val="600"/>
              </a:spcAft>
            </a:pPr>
            <a:r>
              <a:rPr lang="zh-CN" altLang="en-US" sz="1400" b="0" i="0">
                <a:solidFill>
                  <a:srgbClr val="FF0000"/>
                </a:solidFill>
                <a:latin typeface="PingFang SC" panose="020B0400000000000000" charset="-122"/>
              </a:rPr>
              <a:t>本质目标还是解决</a:t>
            </a:r>
            <a:r>
              <a:rPr lang="en-US" altLang="zh-CN" sz="1400" b="0" i="0">
                <a:solidFill>
                  <a:srgbClr val="FF0000"/>
                </a:solidFill>
                <a:latin typeface="PingFang SC" panose="020B0400000000000000" charset="-122"/>
              </a:rPr>
              <a:t>context</a:t>
            </a:r>
            <a:r>
              <a:rPr lang="zh-CN" altLang="en-US" sz="1400" b="0" i="0">
                <a:solidFill>
                  <a:srgbClr val="FF0000"/>
                </a:solidFill>
                <a:latin typeface="PingFang SC" panose="020B0400000000000000" charset="-122"/>
              </a:rPr>
              <a:t>不足和污染</a:t>
            </a:r>
            <a:r>
              <a:rPr lang="zh-CN" altLang="en-US" sz="1400" b="0" i="0">
                <a:solidFill>
                  <a:srgbClr val="FF0000"/>
                </a:solidFill>
                <a:latin typeface="PingFang SC" panose="020B0400000000000000" charset="-122"/>
              </a:rPr>
              <a:t>问题</a:t>
            </a:r>
            <a:endParaRPr lang="zh-CN" altLang="en-US" sz="1400" b="0" i="0">
              <a:solidFill>
                <a:srgbClr val="FF0000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03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三级信息存储架构</a:t>
            </a:r>
            <a:r>
              <a:rPr lang="zh-CN" sz="2800" b="1" i="0">
                <a:solidFill>
                  <a:srgbClr val="1E2A48"/>
                </a:solidFill>
                <a:latin typeface="PingFang SC" panose="020B0400000000000000" charset="-122"/>
              </a:rPr>
              <a:t>处理</a:t>
            </a:r>
            <a:r>
              <a:rPr lang="en-US" altLang="zh-CN" sz="2800" b="1" i="0">
                <a:solidFill>
                  <a:srgbClr val="1E2A48"/>
                </a:solidFill>
                <a:latin typeface="PingFang SC" panose="020B0400000000000000" charset="-122"/>
              </a:rPr>
              <a:t>context</a:t>
            </a:r>
            <a:endParaRPr lang="en-US" altLang="zh-CN"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223" y="2006727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分层存储的价值，在于把“容量问题”和“筛选问题”拆开处理。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807335" y="2308224"/>
            <a:ext cx="4663440" cy="82296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927" y="2417953"/>
            <a:ext cx="4334255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PingFang SC" panose="020B0400000000000000" charset="-122"/>
              </a:rPr>
              <a:t>顶层：提示词层</a:t>
            </a:r>
            <a:endParaRPr sz="20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71927" y="2719705"/>
            <a:ext cx="4334255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PingFang SC" panose="020B0400000000000000" charset="-122"/>
              </a:rPr>
              <a:t>设计 AI 生成任务提示词，必须经人 Review 后下发</a:t>
            </a:r>
            <a:endParaRPr sz="14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847215" y="3621405"/>
            <a:ext cx="6583680" cy="822960"/>
          </a:xfrm>
          <a:prstGeom prst="round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807" y="3731133"/>
            <a:ext cx="6254496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61B21"/>
                </a:solidFill>
                <a:latin typeface="PingFang SC" panose="020B0400000000000000" charset="-122"/>
              </a:rPr>
              <a:t>中层：知识库层</a:t>
            </a:r>
            <a:endParaRPr sz="2000" b="1" i="0">
              <a:solidFill>
                <a:srgbClr val="161B21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11807" y="4032885"/>
            <a:ext cx="6254496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161B21"/>
                </a:solidFill>
                <a:latin typeface="PingFang SC" panose="020B0400000000000000" charset="-122"/>
              </a:rPr>
              <a:t>结构化文档 / 规范，人主导更新与筛选</a:t>
            </a:r>
            <a:endParaRPr sz="1400" b="0" i="0">
              <a:solidFill>
                <a:srgbClr val="161B21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7095" y="5088255"/>
            <a:ext cx="85039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687" y="5197983"/>
            <a:ext cx="8174736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464F5C"/>
                </a:solidFill>
                <a:latin typeface="PingFang SC" panose="020B0400000000000000" charset="-122"/>
              </a:rPr>
              <a:t>底层：代码层</a:t>
            </a:r>
            <a:endParaRPr sz="2000" b="1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687" y="5499735"/>
            <a:ext cx="8174736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64F5C"/>
                </a:solidFill>
                <a:latin typeface="PingFang SC" panose="020B0400000000000000" charset="-122"/>
              </a:rPr>
              <a:t>多仓库原始代码 + 交叉引用，人负责维护准确性</a:t>
            </a:r>
            <a:endParaRPr sz="14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509760" y="2171065"/>
            <a:ext cx="1828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2280793"/>
            <a:ext cx="1499616" cy="320040"/>
          </a:xfrm>
          <a:prstGeom prst="rect">
            <a:avLst/>
          </a:prstGeom>
          <a:noFill/>
        </p:spPr>
        <p:txBody>
          <a:bodyPr wrap="square" anchor="t">
            <a:normAutofit fontScale="90000" lnSpcReduction="10000"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1E2A48"/>
                </a:solidFill>
                <a:latin typeface="PingFang SC" panose="020B0400000000000000" charset="-122"/>
                <a:sym typeface="+mn-ea"/>
              </a:rPr>
              <a:t>提示词层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74352" y="2646553"/>
            <a:ext cx="1499616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• 控冗余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• 防污染</a:t>
            </a: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 </a:t>
            </a:r>
            <a:endParaRPr sz="800" b="0" i="0">
              <a:solidFill>
                <a:srgbClr val="464F5C"/>
              </a:solidFill>
              <a:latin typeface="PingFang SC" panose="020B0400000000000000" charset="-122"/>
              <a:sym typeface="+mn-ea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509760" y="3542665"/>
            <a:ext cx="1828800" cy="109728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3652393"/>
            <a:ext cx="14996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知识层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74225" y="4018280"/>
            <a:ext cx="1664335" cy="47561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64F5C"/>
                </a:solidFill>
                <a:latin typeface="PingFang SC" panose="020B0400000000000000" charset="-122"/>
              </a:rPr>
              <a:t>• 做筛选</a:t>
            </a:r>
            <a:endParaRPr sz="16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64F5C"/>
                </a:solidFill>
                <a:latin typeface="PingFang SC" panose="020B0400000000000000" charset="-122"/>
              </a:rPr>
              <a:t>• 提供精准来源</a:t>
            </a:r>
            <a:endParaRPr sz="16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509760" y="4914265"/>
            <a:ext cx="1828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5023993"/>
            <a:ext cx="1499616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2A48"/>
                </a:solidFill>
                <a:latin typeface="PingFang SC" panose="020B0400000000000000" charset="-122"/>
                <a:sym typeface="+mn-ea"/>
              </a:rPr>
              <a:t>代码层</a:t>
            </a:r>
            <a:endParaRPr sz="1300" b="1" i="0">
              <a:solidFill>
                <a:srgbClr val="1E2A48"/>
              </a:solidFill>
              <a:latin typeface="PingFang SC" panose="020B0400000000000000" charset="-122"/>
              <a:sym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74352" y="5389753"/>
            <a:ext cx="1499616" cy="4754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• </a:t>
            </a: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补容量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464F5C"/>
                </a:solidFill>
                <a:latin typeface="PingFang SC" panose="020B0400000000000000" charset="-122"/>
                <a:sym typeface="+mn-ea"/>
              </a:rPr>
              <a:t>• 存全量事实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endParaRPr sz="6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03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双 AI 非自动化协同规则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核心不是自动编排，而是让人卡在最关键的位置，做最后一道 Context 过滤。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7240" y="2095500"/>
            <a:ext cx="288036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205228"/>
            <a:ext cx="255117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设计 AI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1832" y="2570988"/>
            <a:ext cx="2551176" cy="23500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基于 RAG 检索知识库 + 代码层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生成标准化任务文件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只输出任务，不直接把结果推给 Coding AI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03320" y="3284220"/>
            <a:ext cx="41148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1E2A48"/>
                </a:solidFill>
                <a:latin typeface="PingFang SC" panose="020B0400000000000000" charset="-122"/>
              </a:rPr>
              <a:t>→</a:t>
            </a:r>
            <a:endParaRPr sz="22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069080" y="2095500"/>
            <a:ext cx="2880360" cy="297180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2" y="2205228"/>
            <a:ext cx="255117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人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33672" y="2570988"/>
            <a:ext cx="2551176" cy="23500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强制 Review 任务文件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确认边界、测试用例、是否有冗余信息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手动传递通过 Review 的任务文件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95160" y="3284220"/>
            <a:ext cx="41148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1E2A48"/>
                </a:solidFill>
                <a:latin typeface="PingFang SC" panose="020B0400000000000000" charset="-122"/>
              </a:rPr>
              <a:t>→</a:t>
            </a:r>
            <a:endParaRPr sz="22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60920" y="2095500"/>
            <a:ext cx="2880360" cy="2971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385" y="2205355"/>
            <a:ext cx="255143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zh-CN" b="1" i="0">
                <a:solidFill>
                  <a:srgbClr val="1E2A48"/>
                </a:solidFill>
                <a:latin typeface="PingFang SC" panose="020B0400000000000000" charset="-122"/>
              </a:rPr>
              <a:t>代码</a:t>
            </a:r>
            <a:r>
              <a:rPr lang="en-US" altLang="zh-CN" b="1" i="0">
                <a:solidFill>
                  <a:srgbClr val="1E2A48"/>
                </a:solidFill>
                <a:latin typeface="PingFang SC" panose="020B0400000000000000" charset="-122"/>
              </a:rPr>
              <a:t> </a:t>
            </a:r>
            <a:r>
              <a:rPr b="1" i="0">
                <a:solidFill>
                  <a:srgbClr val="1E2A48"/>
                </a:solidFill>
                <a:latin typeface="PingFang SC" panose="020B0400000000000000" charset="-122"/>
              </a:rPr>
              <a:t>AI</a:t>
            </a:r>
            <a:endParaRPr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25512" y="2570988"/>
            <a:ext cx="2551176" cy="23500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清空历史 Context 后开始执行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只接收已 Review 通过的任务文件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按任务边界完成开发并回填结果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14400" y="5359908"/>
            <a:ext cx="10058400" cy="50292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487924"/>
            <a:ext cx="960120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7E500"/>
                </a:solidFill>
                <a:latin typeface="PingFang SC" panose="020B0400000000000000" charset="-122"/>
              </a:rPr>
              <a:t>双 AI 之间没有自动直连，标准化任务文件是唯一通信介质，人是唯一中间枢纽。</a:t>
            </a:r>
            <a:endParaRPr sz="1800" b="1" i="0">
              <a:solidFill>
                <a:srgbClr val="F7E500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03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745"/>
            <a:ext cx="876046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这一组设计为什么能同时解决两类 Context 问题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补容量、做筛选、控污染，分别被放到了最适合的层次和角色上。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" y="250825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617978"/>
            <a:ext cx="30998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补容量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2983738"/>
            <a:ext cx="3099816" cy="12070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代码层 + 知识库层承接全量信息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RAG + 多级索引负责精准取数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89120" y="2508250"/>
            <a:ext cx="3429000" cy="182880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617978"/>
            <a:ext cx="30998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控污染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3712" y="2983738"/>
            <a:ext cx="3099816" cy="12070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边界清晰、Mocking、TDD 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人工 Review 做最后一道过滤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55279" y="2508250"/>
            <a:ext cx="3154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1" y="2617978"/>
            <a:ext cx="282549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保纯净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19871" y="2983738"/>
            <a:ext cx="2825496" cy="12070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Coding AI 每次清空历史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只接收通过 Review 的任务文件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05840" y="4572000"/>
            <a:ext cx="9875520" cy="8686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800600"/>
            <a:ext cx="941832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7E500"/>
                </a:solidFill>
                <a:latin typeface="PingFang SC" panose="020B0400000000000000" charset="-122"/>
              </a:rPr>
              <a:t>AI 友好开发环境的本质，不是“给 AI 更多信息”，而是“在正确的层级给它足够且干净的信息”。</a:t>
            </a:r>
            <a:endParaRPr sz="2000" b="1" i="0">
              <a:solidFill>
                <a:srgbClr val="F7E500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venir Next" panose="020B0803020202020204"/>
                <a:sym typeface="+mn-ea"/>
              </a:rPr>
              <a:t>04</a:t>
            </a:r>
            <a:endParaRPr lang="en-US" sz="600" b="1" i="0">
              <a:solidFill>
                <a:srgbClr val="FFFFFF"/>
              </a:solidFill>
              <a:latin typeface="Avenir Next" panose="020B0803020202020204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zh-CN" sz="2800" b="1" i="0">
                <a:solidFill>
                  <a:srgbClr val="1E2A48"/>
                </a:solidFill>
                <a:latin typeface="PingFang SC" panose="020B0400000000000000" charset="-122"/>
              </a:rPr>
              <a:t>多</a:t>
            </a:r>
            <a:r>
              <a:rPr lang="en-US" altLang="zh-CN" sz="2800" b="1" i="0">
                <a:solidFill>
                  <a:srgbClr val="1E2A48"/>
                </a:solidFill>
                <a:latin typeface="PingFang SC" panose="020B0400000000000000" charset="-122"/>
              </a:rPr>
              <a:t>AI</a:t>
            </a:r>
            <a:r>
              <a:rPr lang="zh-CN" altLang="en-US" sz="2800" b="1" i="0">
                <a:solidFill>
                  <a:srgbClr val="1E2A48"/>
                </a:solidFill>
                <a:latin typeface="PingFang SC" panose="020B0400000000000000" charset="-122"/>
              </a:rPr>
              <a:t>协作实践：我们的</a:t>
            </a:r>
            <a:r>
              <a:rPr lang="zh-CN" altLang="en-US" sz="2800" b="1" i="0">
                <a:solidFill>
                  <a:srgbClr val="1E2A48"/>
                </a:solidFill>
                <a:latin typeface="PingFang SC" panose="020B0400000000000000" charset="-122"/>
              </a:rPr>
              <a:t>方案</a:t>
            </a:r>
            <a:endParaRPr lang="zh-CN" altLang="en-US"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它不是替你写代码的单点工具，而是把协作动作标准化成一条工作流。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0624" y="2331720"/>
            <a:ext cx="1572768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441448"/>
            <a:ext cx="1353312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A48"/>
                </a:solidFill>
                <a:latin typeface="PingFang SC" panose="020B0400000000000000" charset="-122"/>
              </a:rPr>
              <a:t>用户需求</a:t>
            </a:r>
            <a:endParaRPr sz="16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" y="2734056"/>
            <a:ext cx="1353312" cy="1453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问题入口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上下文起点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93392" y="2907792"/>
            <a:ext cx="32004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1E2A48"/>
                </a:solidFill>
                <a:latin typeface="Avenir Next" panose="020B0803020202020204"/>
              </a:rPr>
              <a:t>→</a:t>
            </a:r>
            <a:endParaRPr sz="2200" b="1" i="0">
              <a:solidFill>
                <a:srgbClr val="1E2A48"/>
              </a:solidFill>
              <a:latin typeface="Avenir Next" panose="020B0803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13432" y="2331720"/>
            <a:ext cx="1572768" cy="196596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2441448"/>
            <a:ext cx="1353312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A48"/>
                </a:solidFill>
                <a:latin typeface="PingFang SC" panose="020B0400000000000000" charset="-122"/>
              </a:rPr>
              <a:t>/architect</a:t>
            </a:r>
            <a:endParaRPr sz="16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3160" y="2734056"/>
            <a:ext cx="1353312" cy="1453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拆任务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做设计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形成任务草案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86200" y="2907792"/>
            <a:ext cx="32004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1E2A48"/>
                </a:solidFill>
                <a:latin typeface="Avenir Next" panose="020B0803020202020204"/>
              </a:rPr>
              <a:t>→</a:t>
            </a:r>
            <a:endParaRPr sz="2200" b="1" i="0">
              <a:solidFill>
                <a:srgbClr val="1E2A48"/>
              </a:solidFill>
              <a:latin typeface="Avenir Next" panose="020B0803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06240" y="2331720"/>
            <a:ext cx="1572768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5968" y="2441448"/>
            <a:ext cx="1353312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A48"/>
                </a:solidFill>
                <a:latin typeface="PingFang SC" panose="020B0400000000000000" charset="-122"/>
              </a:rPr>
              <a:t>任务文件</a:t>
            </a:r>
            <a:endParaRPr sz="16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15968" y="2734056"/>
            <a:ext cx="1353312" cy="1453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明确边界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写前置知识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给出验收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79008" y="2907792"/>
            <a:ext cx="32004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1E2A48"/>
                </a:solidFill>
                <a:latin typeface="Avenir Next" panose="020B0803020202020204"/>
              </a:rPr>
              <a:t>→</a:t>
            </a:r>
            <a:endParaRPr sz="2200" b="1" i="0">
              <a:solidFill>
                <a:srgbClr val="1E2A48"/>
              </a:solidFill>
              <a:latin typeface="Avenir Next" panose="020B0803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099047" y="2331720"/>
            <a:ext cx="1572768" cy="196596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9030" y="2441575"/>
            <a:ext cx="1353185" cy="917575"/>
          </a:xfrm>
          <a:prstGeom prst="rect">
            <a:avLst/>
          </a:prstGeom>
          <a:noFill/>
        </p:spPr>
        <p:txBody>
          <a:bodyPr wrap="square" anchor="t">
            <a:normAutofit lnSpcReduction="10000"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A48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/assign-ai</a:t>
            </a:r>
            <a:br>
              <a:rPr sz="1600" b="1" i="0">
                <a:solidFill>
                  <a:srgbClr val="1E2A48"/>
                </a:solidFill>
                <a:latin typeface="PingFang SC Semibold" panose="020B0400000000000000" charset="-122"/>
                <a:ea typeface="PingFang SC Semibold" panose="020B0400000000000000" charset="-122"/>
              </a:rPr>
            </a:br>
            <a:r>
              <a:rPr b="1">
                <a:latin typeface="PingFang SC Semibold" panose="020B0400000000000000" charset="-122"/>
                <a:ea typeface="PingFang SC Semibold" panose="020B0400000000000000" charset="-122"/>
              </a:rPr>
              <a:t>+ /dispatch</a:t>
            </a:r>
            <a:endParaRPr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09030" y="3435350"/>
            <a:ext cx="1353185" cy="75311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选某C还是某G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生成下发指令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71815" y="2907792"/>
            <a:ext cx="32004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1E2A48"/>
                </a:solidFill>
                <a:latin typeface="Avenir Next" panose="020B0803020202020204"/>
              </a:rPr>
              <a:t>→</a:t>
            </a:r>
            <a:endParaRPr sz="2200" b="1" i="0">
              <a:solidFill>
                <a:srgbClr val="1E2A48"/>
              </a:solidFill>
              <a:latin typeface="Avenir Next" panose="020B0803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991856" y="2331720"/>
            <a:ext cx="1572768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1584" y="2441448"/>
            <a:ext cx="1353312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E2A48"/>
                </a:solidFill>
                <a:latin typeface="PingFang SC" panose="020B0400000000000000" charset="-122"/>
              </a:rPr>
              <a:t>AI 执行</a:t>
            </a:r>
            <a:endParaRPr sz="16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01584" y="2734056"/>
            <a:ext cx="1353312" cy="1453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读取 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lang="en-US" sz="1200" b="0" i="0">
                <a:solidFill>
                  <a:srgbClr val="464F5C"/>
                </a:solidFill>
                <a:latin typeface="PingFang SC" panose="020B0400000000000000" charset="-122"/>
              </a:rPr>
              <a:t>C</a:t>
            </a: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.md / </a:t>
            </a:r>
            <a:r>
              <a:rPr lang="en-US" sz="1200" b="0" i="0">
                <a:solidFill>
                  <a:srgbClr val="464F5C"/>
                </a:solidFill>
                <a:latin typeface="PingFang SC" panose="020B0400000000000000" charset="-122"/>
              </a:rPr>
              <a:t>G</a:t>
            </a: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.md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64F5C"/>
                </a:solidFill>
                <a:latin typeface="PingFang SC" panose="020B0400000000000000" charset="-122"/>
              </a:rPr>
              <a:t>回填执行结果</a:t>
            </a:r>
            <a:endParaRPr sz="12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564624" y="2907792"/>
            <a:ext cx="32004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1E2A48"/>
                </a:solidFill>
                <a:latin typeface="Avenir Next" panose="020B0803020202020204"/>
              </a:rPr>
              <a:t>→</a:t>
            </a:r>
            <a:endParaRPr sz="2200" b="1" i="0">
              <a:solidFill>
                <a:srgbClr val="1E2A48"/>
              </a:solidFill>
              <a:latin typeface="Avenir Next" panose="020B0803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884664" y="2331720"/>
            <a:ext cx="1572768" cy="196596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94392" y="2441448"/>
            <a:ext cx="1353312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7E500"/>
                </a:solidFill>
                <a:latin typeface="PingFang SC" panose="020B0400000000000000" charset="-122"/>
              </a:rPr>
              <a:t>knowledge</a:t>
            </a:r>
            <a:br>
              <a:rPr sz="1600" b="1" i="0">
                <a:solidFill>
                  <a:srgbClr val="F7E500"/>
                </a:solidFill>
                <a:latin typeface="PingFang SC" panose="020B0400000000000000" charset="-122"/>
              </a:rPr>
            </a:br>
            <a:r>
              <a:t>+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2734056"/>
            <a:ext cx="1353312" cy="1453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PingFang SC" panose="020B0400000000000000" charset="-122"/>
              </a:rPr>
              <a:t>沉淀知识</a:t>
            </a:r>
            <a:endParaRPr sz="1200" b="0" i="0">
              <a:solidFill>
                <a:srgbClr val="FFFFFF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PingFang SC" panose="020B0400000000000000" charset="-122"/>
              </a:rPr>
              <a:t>更新 registry</a:t>
            </a:r>
            <a:endParaRPr sz="1200" b="0" i="0">
              <a:solidFill>
                <a:srgbClr val="FFFFFF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PingFang SC" panose="020B0400000000000000" charset="-122"/>
              </a:rPr>
              <a:t>支持下一轮</a:t>
            </a:r>
            <a:endParaRPr sz="12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051560" y="4800600"/>
            <a:ext cx="9555480" cy="111061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16152" y="4910328"/>
            <a:ext cx="922629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这条流程最关键的三个点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16152" y="5276088"/>
            <a:ext cx="9226296" cy="4754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/architect 保证先设计再下发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/assign-ai 和 /dispatch 把路由显式化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knowledge / MEMORY / registry 让结果能复用而不是留在对话里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venir Next" panose="020B0803020202020204"/>
                <a:sym typeface="+mn-ea"/>
              </a:rPr>
              <a:t>04</a:t>
            </a:r>
            <a:endParaRPr sz="600" b="1" i="0">
              <a:solidFill>
                <a:srgbClr val="FFFFFF"/>
              </a:solidFill>
              <a:latin typeface="Avenir Next" panose="020B0803020202020204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zh-CN" sz="2800" b="1">
                <a:solidFill>
                  <a:srgbClr val="1E2A48"/>
                </a:solidFill>
                <a:latin typeface="PingFang SC" panose="020B0400000000000000" charset="-122"/>
                <a:sym typeface="+mn-ea"/>
              </a:rPr>
              <a:t>多</a:t>
            </a:r>
            <a:r>
              <a:rPr lang="en-US" altLang="zh-CN" sz="2800" b="1">
                <a:solidFill>
                  <a:srgbClr val="1E2A48"/>
                </a:solidFill>
                <a:latin typeface="PingFang SC" panose="020B0400000000000000" charset="-122"/>
                <a:sym typeface="+mn-ea"/>
              </a:rPr>
              <a:t>AI</a:t>
            </a:r>
            <a:r>
              <a:rPr lang="zh-CN" altLang="en-US" sz="2800" b="1">
                <a:solidFill>
                  <a:srgbClr val="1E2A48"/>
                </a:solidFill>
                <a:latin typeface="PingFang SC" panose="020B0400000000000000" charset="-122"/>
                <a:sym typeface="+mn-ea"/>
              </a:rPr>
              <a:t>协作</a:t>
            </a: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仓库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297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这个项目把协作能力拆成了四类可复用部件，而不是把经验写死在一个提示词里。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>
            <p:custDataLst>
              <p:tags r:id="rId2"/>
            </p:custDataLst>
          </p:nvPr>
        </p:nvSpPr>
        <p:spPr>
          <a:xfrm>
            <a:off x="822960" y="2157730"/>
            <a:ext cx="49834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987552" y="2267458"/>
            <a:ext cx="465429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skills/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987552" y="2633218"/>
            <a:ext cx="4654296" cy="7955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/architect、/assign-ai、/dispatch、/task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/save、/restore、/optimize、/project-add、/project-remove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5"/>
            </p:custDataLst>
          </p:nvPr>
        </p:nvSpPr>
        <p:spPr>
          <a:xfrm>
            <a:off x="6126480" y="2157730"/>
            <a:ext cx="4983480" cy="141732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6291072" y="2267458"/>
            <a:ext cx="465429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memory-template/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7"/>
            </p:custDataLst>
          </p:nvPr>
        </p:nvSpPr>
        <p:spPr>
          <a:xfrm>
            <a:off x="6291072" y="2633218"/>
            <a:ext cx="4654296" cy="7955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MEMORY.md：跨项目规则、仓库拓扑、踩坑速记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registry.md：实例注册表和 dispatch 路由规则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>
            <p:custDataLst>
              <p:tags r:id="rId8"/>
            </p:custDataLst>
          </p:nvPr>
        </p:nvSpPr>
        <p:spPr>
          <a:xfrm>
            <a:off x="822960" y="3895090"/>
            <a:ext cx="4983480" cy="141732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987552" y="4004818"/>
            <a:ext cx="465429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agents/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987552" y="4370578"/>
            <a:ext cx="4654296" cy="7955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research-task-creator 等辅助 agent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用于自动生成更标准化的调研任务文件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11"/>
            </p:custDataLst>
          </p:nvPr>
        </p:nvSpPr>
        <p:spPr>
          <a:xfrm>
            <a:off x="6126480" y="3895090"/>
            <a:ext cx="49834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2"/>
            </p:custDataLst>
          </p:nvPr>
        </p:nvSpPr>
        <p:spPr>
          <a:xfrm>
            <a:off x="6291072" y="4004818"/>
            <a:ext cx="465429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collab-framework/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3"/>
            </p:custDataLst>
          </p:nvPr>
        </p:nvSpPr>
        <p:spPr>
          <a:xfrm>
            <a:off x="6291072" y="4370578"/>
            <a:ext cx="4654296" cy="795528"/>
          </a:xfrm>
          <a:prstGeom prst="rect">
            <a:avLst/>
          </a:prstGeom>
          <a:noFill/>
        </p:spPr>
        <p:txBody>
          <a:bodyPr wrap="square" anchor="t">
            <a:normAutofit lnSpcReduction="20000"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</a:t>
            </a:r>
            <a:r>
              <a:rPr lang="zh-CN" sz="1500" b="0" i="0">
                <a:solidFill>
                  <a:srgbClr val="464F5C"/>
                </a:solidFill>
                <a:latin typeface="PingFang SC" panose="020B0400000000000000" charset="-122"/>
              </a:rPr>
              <a:t>项目的整套骨架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新项目可直接复制接入，不必从零搭规范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venir Next" panose="020B0803020202020204"/>
              </a:rPr>
              <a:t>0</a:t>
            </a:r>
            <a:r>
              <a:rPr lang="en-US" sz="1700" b="1" i="0">
                <a:solidFill>
                  <a:srgbClr val="FFFFFF"/>
                </a:solidFill>
                <a:latin typeface="Avenir Next" panose="020B0803020202020204"/>
              </a:rPr>
              <a:t>4</a:t>
            </a:r>
            <a:endParaRPr lang="en-US" sz="17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2800" b="1" i="0">
                <a:solidFill>
                  <a:srgbClr val="1E2A48"/>
                </a:solidFill>
                <a:latin typeface="PingFang SC" panose="020B0400000000000000" charset="-122"/>
              </a:rPr>
              <a:t>1</a:t>
            </a:r>
            <a:r>
              <a:rPr lang="zh-CN" altLang="en-US" sz="2800" b="1" i="0">
                <a:solidFill>
                  <a:srgbClr val="1E2A48"/>
                </a:solidFill>
                <a:latin typeface="PingFang SC" panose="020B0400000000000000" charset="-122"/>
              </a:rPr>
              <a:t>步接入一个</a:t>
            </a:r>
            <a:r>
              <a:rPr lang="zh-CN" altLang="en-US" sz="2800" b="1" i="0">
                <a:solidFill>
                  <a:srgbClr val="1E2A48"/>
                </a:solidFill>
                <a:latin typeface="PingFang SC" panose="020B0400000000000000" charset="-122"/>
              </a:rPr>
              <a:t>新项目</a:t>
            </a:r>
            <a:endParaRPr lang="zh-CN" altLang="en-US"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935" y="1764665"/>
            <a:ext cx="9967595" cy="59499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项目接入轻，但接入以后规则很重，这才是它能长期工作的原因。</a:t>
            </a:r>
            <a:endParaRPr lang="zh-CN" altLang="en-US"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>
            <p:custDataLst>
              <p:tags r:id="rId2"/>
            </p:custDataLst>
          </p:nvPr>
        </p:nvSpPr>
        <p:spPr>
          <a:xfrm>
            <a:off x="822960" y="2103120"/>
            <a:ext cx="29718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3"/>
            </p:custDataLst>
          </p:nvPr>
        </p:nvSpPr>
        <p:spPr>
          <a:xfrm>
            <a:off x="987552" y="2267712"/>
            <a:ext cx="868680" cy="347472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987425" y="2322830"/>
            <a:ext cx="868680" cy="164465"/>
          </a:xfrm>
          <a:prstGeom prst="rect">
            <a:avLst/>
          </a:prstGeom>
          <a:noFill/>
        </p:spPr>
        <p:txBody>
          <a:bodyPr wrap="square" anchor="t">
            <a:normAutofit fontScale="25000"/>
          </a:bodyPr>
          <a:lstStyle/>
          <a:p>
            <a:pPr algn="ctr">
              <a:spcAft>
                <a:spcPts val="600"/>
              </a:spcAft>
            </a:pPr>
            <a:r>
              <a:rPr lang="zh-CN" sz="6400" b="1" i="0">
                <a:solidFill>
                  <a:srgbClr val="FFFFFF"/>
                </a:solidFill>
                <a:latin typeface="Avenir Next" panose="020B0803020202020204"/>
              </a:rPr>
              <a:t>方法</a:t>
            </a:r>
            <a:r>
              <a:rPr sz="6400" b="1" i="0">
                <a:solidFill>
                  <a:srgbClr val="FFFFFF"/>
                </a:solidFill>
                <a:latin typeface="Avenir Next" panose="020B0803020202020204"/>
              </a:rPr>
              <a:t> 1</a:t>
            </a:r>
            <a:endParaRPr sz="64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987552" y="2761488"/>
            <a:ext cx="26060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2100" b="1" i="0">
                <a:solidFill>
                  <a:srgbClr val="1E2A48"/>
                </a:solidFill>
                <a:latin typeface="PingFang SC" panose="020B0400000000000000" charset="-122"/>
              </a:rPr>
              <a:t>/project-</a:t>
            </a:r>
            <a:r>
              <a:rPr lang="en-US" sz="2100" b="1" i="0">
                <a:solidFill>
                  <a:srgbClr val="1E2A48"/>
                </a:solidFill>
                <a:latin typeface="PingFang SC" panose="020B0400000000000000" charset="-122"/>
              </a:rPr>
              <a:t>add</a:t>
            </a:r>
            <a:endParaRPr lang="en-US" sz="21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987552" y="3182112"/>
            <a:ext cx="260604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400" b="0" i="0">
                <a:solidFill>
                  <a:srgbClr val="464F5C"/>
                </a:solidFill>
                <a:latin typeface="PingFang SC" panose="020B0400000000000000" charset="-122"/>
              </a:rPr>
              <a:t>AI</a:t>
            </a:r>
            <a:r>
              <a:rPr lang="zh-CN" altLang="en-US" sz="1400" b="0" i="0">
                <a:solidFill>
                  <a:srgbClr val="464F5C"/>
                </a:solidFill>
                <a:latin typeface="PingFang SC" panose="020B0400000000000000" charset="-122"/>
              </a:rPr>
              <a:t>内置</a:t>
            </a:r>
            <a:r>
              <a:rPr lang="zh-CN" altLang="en-US" sz="1400" b="0" i="0">
                <a:solidFill>
                  <a:srgbClr val="464F5C"/>
                </a:solidFill>
                <a:latin typeface="PingFang SC" panose="020B0400000000000000" charset="-122"/>
              </a:rPr>
              <a:t>命令</a:t>
            </a:r>
            <a:endParaRPr lang="zh-CN" altLang="en-US" sz="14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7"/>
            </p:custDataLst>
          </p:nvPr>
        </p:nvSpPr>
        <p:spPr>
          <a:xfrm>
            <a:off x="4434840" y="2103120"/>
            <a:ext cx="2971800" cy="205740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>
            <p:custDataLst>
              <p:tags r:id="rId8"/>
            </p:custDataLst>
          </p:nvPr>
        </p:nvSpPr>
        <p:spPr>
          <a:xfrm>
            <a:off x="4599432" y="2267712"/>
            <a:ext cx="868680" cy="347472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4599432" y="2322576"/>
            <a:ext cx="868680" cy="164592"/>
          </a:xfrm>
          <a:prstGeom prst="rect">
            <a:avLst/>
          </a:prstGeom>
          <a:noFill/>
        </p:spPr>
        <p:txBody>
          <a:bodyPr wrap="square" anchor="t">
            <a:normAutofit fontScale="25000"/>
          </a:bodyPr>
          <a:lstStyle/>
          <a:p>
            <a:pPr algn="ctr">
              <a:spcAft>
                <a:spcPts val="600"/>
              </a:spcAft>
            </a:pPr>
            <a:r>
              <a:rPr lang="zh-CN" sz="6400" b="1">
                <a:solidFill>
                  <a:srgbClr val="FFFFFF"/>
                </a:solidFill>
                <a:latin typeface="Avenir Next" panose="020B0803020202020204"/>
                <a:sym typeface="+mn-ea"/>
              </a:rPr>
              <a:t>方法</a:t>
            </a:r>
            <a:r>
              <a:rPr sz="6400" b="1">
                <a:solidFill>
                  <a:srgbClr val="FFFFFF"/>
                </a:solidFill>
                <a:latin typeface="Avenir Next" panose="020B0803020202020204"/>
                <a:sym typeface="+mn-ea"/>
              </a:rPr>
              <a:t> </a:t>
            </a:r>
            <a:r>
              <a:rPr lang="en-US" sz="6400" b="1">
                <a:solidFill>
                  <a:srgbClr val="FFFFFF"/>
                </a:solidFill>
                <a:latin typeface="Avenir Next" panose="020B0803020202020204"/>
                <a:sym typeface="+mn-ea"/>
              </a:rPr>
              <a:t>2</a:t>
            </a:r>
            <a:endParaRPr lang="en-US" sz="6400" b="1" i="0">
              <a:solidFill>
                <a:srgbClr val="FFFFFF"/>
              </a:solidFill>
              <a:latin typeface="Avenir Next" panose="020B0803020202020204"/>
              <a:sym typeface="+mn-ea"/>
            </a:endParaRP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4599432" y="2761488"/>
            <a:ext cx="26060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altLang="zh-CN" sz="2200" b="1" i="0">
                <a:solidFill>
                  <a:srgbClr val="1E2A48"/>
                </a:solidFill>
                <a:latin typeface="PingFang SC" panose="020B0400000000000000" charset="-122"/>
              </a:rPr>
              <a:t>install.sh</a:t>
            </a:r>
            <a:endParaRPr lang="en-US" altLang="zh-CN" sz="22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4599432" y="3182112"/>
            <a:ext cx="2606040" cy="777240"/>
          </a:xfrm>
          <a:prstGeom prst="rect">
            <a:avLst/>
          </a:prstGeom>
          <a:noFill/>
        </p:spPr>
        <p:txBody>
          <a:bodyPr wrap="square" anchor="t">
            <a:normAutofit lnSpcReduction="20000"/>
          </a:bodyPr>
          <a:lstStyle/>
          <a:p>
            <a:pPr algn="l">
              <a:spcAft>
                <a:spcPts val="600"/>
              </a:spcAft>
            </a:pPr>
            <a:r>
              <a:rPr lang="zh-CN" sz="1400">
                <a:solidFill>
                  <a:srgbClr val="6F7881"/>
                </a:solidFill>
                <a:latin typeface="PingFang SC" panose="020B0400000000000000" charset="-122"/>
                <a:sym typeface="+mn-ea"/>
              </a:rPr>
              <a:t>项目</a:t>
            </a:r>
            <a:r>
              <a:rPr lang="zh-CN" sz="1400">
                <a:solidFill>
                  <a:srgbClr val="6F7881"/>
                </a:solidFill>
                <a:latin typeface="PingFang SC" panose="020B0400000000000000" charset="-122"/>
                <a:sym typeface="+mn-ea"/>
              </a:rPr>
              <a:t>脚本</a:t>
            </a:r>
            <a:endParaRPr lang="zh-CN" sz="1400">
              <a:solidFill>
                <a:srgbClr val="6F7881"/>
              </a:solidFill>
              <a:latin typeface="PingFang SC" panose="020B0400000000000000" charset="-122"/>
              <a:sym typeface="+mn-ea"/>
            </a:endParaRPr>
          </a:p>
        </p:txBody>
      </p:sp>
      <p:sp>
        <p:nvSpPr>
          <p:cNvPr id="22" name="Rounded Rectangle 21"/>
          <p:cNvSpPr/>
          <p:nvPr>
            <p:custDataLst>
              <p:tags r:id="rId12"/>
            </p:custDataLst>
          </p:nvPr>
        </p:nvSpPr>
        <p:spPr>
          <a:xfrm>
            <a:off x="8046720" y="2103120"/>
            <a:ext cx="29718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>
            <p:custDataLst>
              <p:tags r:id="rId13"/>
            </p:custDataLst>
          </p:nvPr>
        </p:nvSpPr>
        <p:spPr>
          <a:xfrm>
            <a:off x="8211312" y="2267712"/>
            <a:ext cx="868680" cy="347472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4"/>
            </p:custDataLst>
          </p:nvPr>
        </p:nvSpPr>
        <p:spPr>
          <a:xfrm>
            <a:off x="8211312" y="2322576"/>
            <a:ext cx="868680" cy="164592"/>
          </a:xfrm>
          <a:prstGeom prst="rect">
            <a:avLst/>
          </a:prstGeom>
          <a:noFill/>
        </p:spPr>
        <p:txBody>
          <a:bodyPr wrap="square" anchor="t">
            <a:normAutofit fontScale="25000"/>
          </a:bodyPr>
          <a:lstStyle/>
          <a:p>
            <a:pPr algn="ctr">
              <a:spcAft>
                <a:spcPts val="600"/>
              </a:spcAft>
            </a:pPr>
            <a:r>
              <a:rPr lang="zh-CN" sz="6400" b="1" i="0">
                <a:solidFill>
                  <a:srgbClr val="FFFFFF"/>
                </a:solidFill>
                <a:latin typeface="Avenir Next" panose="020B0803020202020204"/>
              </a:rPr>
              <a:t>方法</a:t>
            </a:r>
            <a:r>
              <a:rPr sz="6400" b="1" i="0">
                <a:solidFill>
                  <a:srgbClr val="FFFFFF"/>
                </a:solidFill>
                <a:latin typeface="Avenir Next" panose="020B0803020202020204"/>
              </a:rPr>
              <a:t> 3</a:t>
            </a:r>
            <a:endParaRPr sz="64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25" name="TextBox 24"/>
          <p:cNvSpPr txBox="1"/>
          <p:nvPr>
            <p:custDataLst>
              <p:tags r:id="rId15"/>
            </p:custDataLst>
          </p:nvPr>
        </p:nvSpPr>
        <p:spPr>
          <a:xfrm>
            <a:off x="8211312" y="2761488"/>
            <a:ext cx="26060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2100" b="1" i="0">
                <a:solidFill>
                  <a:srgbClr val="1E2A48"/>
                </a:solidFill>
                <a:latin typeface="PingFang SC" panose="020B0400000000000000" charset="-122"/>
              </a:rPr>
              <a:t>AI</a:t>
            </a:r>
            <a:r>
              <a:rPr lang="zh-CN" altLang="en-US" sz="2100" b="1" i="0">
                <a:solidFill>
                  <a:srgbClr val="1E2A48"/>
                </a:solidFill>
                <a:latin typeface="PingFang SC" panose="020B0400000000000000" charset="-122"/>
              </a:rPr>
              <a:t>自动</a:t>
            </a:r>
            <a:endParaRPr lang="zh-CN" altLang="en-US" sz="21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6"/>
            </p:custDataLst>
          </p:nvPr>
        </p:nvSpPr>
        <p:spPr>
          <a:xfrm>
            <a:off x="8211312" y="3182112"/>
            <a:ext cx="260604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zh-CN" sz="1400" b="0" i="0">
                <a:solidFill>
                  <a:srgbClr val="464F5C"/>
                </a:solidFill>
                <a:latin typeface="PingFang SC" panose="020B0400000000000000" charset="-122"/>
              </a:rPr>
              <a:t>帮我把</a:t>
            </a:r>
            <a:r>
              <a:rPr lang="en-US" altLang="zh-CN" sz="1400" b="0" i="0">
                <a:solidFill>
                  <a:srgbClr val="464F5C"/>
                </a:solidFill>
                <a:latin typeface="PingFang SC" panose="020B0400000000000000" charset="-122"/>
              </a:rPr>
              <a:t>XX</a:t>
            </a:r>
            <a:r>
              <a:rPr lang="zh-CN" altLang="en-US" sz="1400" b="0" i="0">
                <a:solidFill>
                  <a:srgbClr val="464F5C"/>
                </a:solidFill>
                <a:latin typeface="PingFang SC" panose="020B0400000000000000" charset="-122"/>
              </a:rPr>
              <a:t>加入到仓库管理</a:t>
            </a:r>
            <a:r>
              <a:rPr lang="zh-CN" altLang="en-US" sz="1400" b="0" i="0">
                <a:solidFill>
                  <a:srgbClr val="464F5C"/>
                </a:solidFill>
                <a:latin typeface="PingFang SC" panose="020B0400000000000000" charset="-122"/>
              </a:rPr>
              <a:t>中。</a:t>
            </a:r>
            <a:endParaRPr lang="zh-CN" altLang="en-US" sz="14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05840" y="4709160"/>
            <a:ext cx="98755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4818888"/>
            <a:ext cx="954633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接入后的日常动作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70432" y="5184648"/>
            <a:ext cx="9546336" cy="338328"/>
          </a:xfrm>
          <a:prstGeom prst="rect">
            <a:avLst/>
          </a:prstGeom>
          <a:noFill/>
        </p:spPr>
        <p:txBody>
          <a:bodyPr wrap="square" anchor="t">
            <a:normAutofit lnSpcReduction="20000"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推荐从 ~/ 启动某CC，拿全局协调视角</a:t>
            </a:r>
            <a:r>
              <a:rPr lang="zh-CN" sz="1500" b="0" i="0">
                <a:solidFill>
                  <a:srgbClr val="464F5C"/>
                </a:solidFill>
                <a:latin typeface="PingFang SC" panose="020B0400000000000000" charset="-122"/>
              </a:rPr>
              <a:t>。其他</a:t>
            </a:r>
            <a:r>
              <a:rPr lang="en-US" altLang="zh-CN" sz="1500" b="0" i="0">
                <a:solidFill>
                  <a:srgbClr val="464F5C"/>
                </a:solidFill>
                <a:latin typeface="PingFang SC" panose="020B0400000000000000" charset="-122"/>
              </a:rPr>
              <a:t>AI</a:t>
            </a:r>
            <a:r>
              <a:rPr lang="zh-CN" altLang="en-US" sz="1500" b="0" i="0">
                <a:solidFill>
                  <a:srgbClr val="464F5C"/>
                </a:solidFill>
                <a:latin typeface="PingFang SC" panose="020B0400000000000000" charset="-122"/>
              </a:rPr>
              <a:t>只能看到自己当前的项目，基于全局</a:t>
            </a:r>
            <a:r>
              <a:rPr lang="en-US" altLang="zh-CN" sz="1500" b="0" i="0">
                <a:solidFill>
                  <a:srgbClr val="464F5C"/>
                </a:solidFill>
                <a:latin typeface="PingFang SC" panose="020B0400000000000000" charset="-122"/>
              </a:rPr>
              <a:t>AI</a:t>
            </a:r>
            <a:r>
              <a:rPr lang="zh-CN" altLang="en-US" sz="1500" b="0" i="0">
                <a:solidFill>
                  <a:srgbClr val="464F5C"/>
                </a:solidFill>
                <a:latin typeface="PingFang SC" panose="020B0400000000000000" charset="-122"/>
              </a:rPr>
              <a:t>进行协调</a:t>
            </a:r>
            <a:r>
              <a:rPr lang="zh-CN" altLang="en-US" sz="1500" b="0" i="0">
                <a:solidFill>
                  <a:srgbClr val="464F5C"/>
                </a:solidFill>
                <a:latin typeface="PingFang SC" panose="020B0400000000000000" charset="-122"/>
              </a:rPr>
              <a:t>统筹。</a:t>
            </a:r>
            <a:endParaRPr lang="zh-CN" altLang="en-US"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venir Next" panose="020B0803020202020204"/>
              </a:rPr>
              <a:t>0</a:t>
            </a:r>
            <a:r>
              <a:rPr lang="en-US" sz="1700" b="1" i="0">
                <a:solidFill>
                  <a:srgbClr val="FFFFFF"/>
                </a:solidFill>
                <a:latin typeface="Avenir Next" panose="020B0803020202020204"/>
              </a:rPr>
              <a:t>4</a:t>
            </a:r>
            <a:endParaRPr lang="en-US" sz="17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命令流怎么串起来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核心不是命令多，而是每个命令都把一次协作动作显式化、文件化、可追踪化。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" y="2092960"/>
            <a:ext cx="28346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202688"/>
            <a:ext cx="250545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设计阶段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2568448"/>
            <a:ext cx="2505456" cy="7040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/architect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创建设计和任务草案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明确边界、依赖和验收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3693160"/>
            <a:ext cx="2834640" cy="132588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02888"/>
            <a:ext cx="250545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路由阶段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7552" y="4168648"/>
            <a:ext cx="2505456" cy="7040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/assign-ai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/dispatch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决定发给某C还是某G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5293360"/>
            <a:ext cx="283464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403088"/>
            <a:ext cx="250545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会话阶段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87425" y="5704205"/>
            <a:ext cx="3094990" cy="713105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•/save · /restore · /optimize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77639" y="2074672"/>
            <a:ext cx="4389120" cy="3986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4528" y="2321560"/>
            <a:ext cx="3858768" cy="3429000"/>
          </a:xfrm>
          <a:prstGeom prst="rect">
            <a:avLst/>
          </a:prstGeom>
          <a:noFill/>
        </p:spPr>
        <p:txBody>
          <a:bodyPr wrap="square" anchor="t">
            <a:normAutofit lnSpcReduction="20000"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61B21"/>
                </a:solidFill>
                <a:latin typeface="Menlo" panose="020B0609030804020204"/>
              </a:rPr>
              <a:t>/architect</a:t>
            </a:r>
            <a:endParaRPr sz="15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61B21"/>
                </a:solidFill>
                <a:latin typeface="Menlo" panose="020B0609030804020204"/>
              </a:rPr>
              <a:t>→ 生成 041-research-xxx.md</a:t>
            </a:r>
            <a:endParaRPr sz="15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61B21"/>
                </a:solidFill>
                <a:latin typeface="Menlo" panose="020B0609030804020204"/>
              </a:rPr>
              <a:t>/assign-ai 041</a:t>
            </a:r>
            <a:endParaRPr sz="15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61B21"/>
                </a:solidFill>
                <a:latin typeface="Menlo" panose="020B0609030804020204"/>
              </a:rPr>
              <a:t>→ G</a:t>
            </a:r>
            <a:r>
              <a:rPr lang="en-US" sz="1500" b="0" i="0">
                <a:solidFill>
                  <a:srgbClr val="161B21"/>
                </a:solidFill>
                <a:latin typeface="Menlo" panose="020B0609030804020204"/>
              </a:rPr>
              <a:t>&amp;C</a:t>
            </a:r>
            <a:r>
              <a:rPr sz="1500" b="0" i="0">
                <a:solidFill>
                  <a:srgbClr val="161B21"/>
                </a:solidFill>
                <a:latin typeface="Menlo" panose="020B0609030804020204"/>
              </a:rPr>
              <a:t> / 本地 G / 远端 </a:t>
            </a:r>
            <a:r>
              <a:rPr lang="en-US" sz="1500" b="0" i="0">
                <a:solidFill>
                  <a:srgbClr val="161B21"/>
                </a:solidFill>
                <a:latin typeface="Menlo" panose="020B0609030804020204"/>
              </a:rPr>
              <a:t>C</a:t>
            </a:r>
            <a:endParaRPr sz="15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61B21"/>
                </a:solidFill>
                <a:latin typeface="Menlo" panose="020B0609030804020204"/>
              </a:rPr>
              <a:t>/dispatch 041</a:t>
            </a:r>
            <a:endParaRPr sz="15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61B21"/>
                </a:solidFill>
                <a:latin typeface="Menlo" panose="020B0609030804020204"/>
              </a:rPr>
              <a:t>→ 输出“请先读取 C.md ...”</a:t>
            </a:r>
            <a:endParaRPr sz="15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61B21"/>
                </a:solidFill>
                <a:latin typeface="Menlo" panose="020B0609030804020204"/>
              </a:rPr>
              <a:t>AI 执行后回填结果</a:t>
            </a:r>
            <a:endParaRPr sz="15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61B21"/>
                </a:solidFill>
                <a:latin typeface="Menlo" panose="020B0609030804020204"/>
              </a:rPr>
              <a:t>→ C</a:t>
            </a:r>
            <a:r>
              <a:rPr lang="en-US" sz="1500" b="0" i="0">
                <a:solidFill>
                  <a:srgbClr val="161B21"/>
                </a:solidFill>
                <a:latin typeface="Menlo" panose="020B0609030804020204"/>
              </a:rPr>
              <a:t>C</a:t>
            </a:r>
            <a:r>
              <a:rPr sz="1500" b="0" i="0">
                <a:solidFill>
                  <a:srgbClr val="161B21"/>
                </a:solidFill>
                <a:latin typeface="Menlo" panose="020B0609030804020204"/>
              </a:rPr>
              <a:t> Review</a:t>
            </a:r>
            <a:endParaRPr sz="15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61B21"/>
                </a:solidFill>
                <a:latin typeface="Menlo" panose="020B0609030804020204"/>
              </a:rPr>
              <a:t>→ knowledge / MEMORY 更新</a:t>
            </a:r>
            <a:endParaRPr sz="1500" b="0" i="0">
              <a:solidFill>
                <a:srgbClr val="161B21"/>
              </a:solidFill>
              <a:latin typeface="Menlo" panose="020B0609030804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41080" y="2092960"/>
            <a:ext cx="2560320" cy="1874519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5672" y="2202688"/>
            <a:ext cx="223113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这些命令真正解决什么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08390" y="2870835"/>
            <a:ext cx="2532380" cy="1252855"/>
          </a:xfrm>
          <a:prstGeom prst="rect">
            <a:avLst/>
          </a:prstGeom>
          <a:noFill/>
        </p:spPr>
        <p:txBody>
          <a:bodyPr wrap="square" anchor="t">
            <a:normAutofit lnSpcReduction="20000"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让协作步骤不靠口头传达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让任务切换时不丢上下文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让多实例并行时可追踪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41080" y="4241800"/>
            <a:ext cx="25603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672" y="4351528"/>
            <a:ext cx="223113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关键理解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05672" y="4717288"/>
            <a:ext cx="2231136" cy="11612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</a:t>
            </a:r>
            <a:r>
              <a:rPr lang="zh-CN" sz="1500" b="0" i="0">
                <a:solidFill>
                  <a:srgbClr val="464F5C"/>
                </a:solidFill>
                <a:latin typeface="PingFang SC" panose="020B0400000000000000" charset="-122"/>
              </a:rPr>
              <a:t>命令</a:t>
            </a: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 不是魔法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本质上是在驱动文件、规则和状态流转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venir Next" panose="020B0803020202020204"/>
              </a:rPr>
              <a:t>0</a:t>
            </a:r>
            <a:r>
              <a:rPr lang="en-US" sz="1700" b="1" i="0">
                <a:solidFill>
                  <a:srgbClr val="FFFFFF"/>
                </a:solidFill>
                <a:latin typeface="Avenir Next" panose="020B0803020202020204"/>
              </a:rPr>
              <a:t>4</a:t>
            </a:r>
            <a:endParaRPr lang="en-US" sz="17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两类最关键的任务示例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真正常用的是两种任务：调研任务和开发任务，它们写法不同、验收也不同。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" y="2127885"/>
            <a:ext cx="4983480" cy="2788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237613"/>
            <a:ext cx="465429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调研任务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2603373"/>
            <a:ext cx="4654296" cy="21671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目标：让某C / 某G 读代码、查资料、回答具体问题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关键字段：具体问题、分析文件、知识库引用、输出格式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可以允许插桩，但必须写清调试边界和回收要求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输出通常是 </a:t>
            </a:r>
            <a:r>
              <a:rPr lang="en-US" sz="1500" b="0" i="0">
                <a:solidFill>
                  <a:srgbClr val="464F5C"/>
                </a:solidFill>
                <a:latin typeface="PingFang SC" panose="020B0400000000000000" charset="-122"/>
              </a:rPr>
              <a:t>MD</a:t>
            </a:r>
            <a:r>
              <a:rPr lang="zh-CN" altLang="en-US" sz="1500" b="0" i="0">
                <a:solidFill>
                  <a:srgbClr val="464F5C"/>
                </a:solidFill>
                <a:latin typeface="PingFang SC" panose="020B0400000000000000" charset="-122"/>
              </a:rPr>
              <a:t>形式的</a:t>
            </a: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结论或知识库增量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72200" y="2127885"/>
            <a:ext cx="4983480" cy="278892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237613"/>
            <a:ext cx="465429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开发任务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36792" y="2603373"/>
            <a:ext cx="4654296" cy="21671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目标：实现功能、修 bug、补测试、做重构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关键字段：文件清单、接口定义、实现步骤、验证命令、失败处理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单任务控制在 2-4 小时，复杂功能拆成 035a / 035b / 035c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输出通常是代码修改 + 验证说明 + 结果回填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5236845"/>
            <a:ext cx="10195560" cy="621792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419725"/>
            <a:ext cx="978408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7E500"/>
                </a:solidFill>
                <a:latin typeface="PingFang SC" panose="020B0400000000000000" charset="-122"/>
              </a:rPr>
              <a:t>常见闭环：调研任务 → 知识更新 → 设计决策 → 开发任务 → Review → MEMORY 沉淀</a:t>
            </a:r>
            <a:endParaRPr sz="1800" b="1" i="0">
              <a:solidFill>
                <a:srgbClr val="F7E500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b="1" i="0">
                <a:solidFill>
                  <a:srgbClr val="FFFFFF"/>
                </a:solidFill>
                <a:latin typeface="Avenir Next" panose="020B0803020202020204"/>
              </a:rPr>
              <a:t>0</a:t>
            </a:r>
            <a:r>
              <a:rPr lang="en-US" b="1" i="0">
                <a:solidFill>
                  <a:srgbClr val="FFFFFF"/>
                </a:solidFill>
                <a:latin typeface="Avenir Next" panose="020B0803020202020204"/>
              </a:rPr>
              <a:t>4</a:t>
            </a:r>
            <a:endParaRPr lang="en-US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任务文件是协议层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项目规范、任务边界、输出要求，都靠它在不同 AI 之间稳定传递。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" y="1828800"/>
            <a:ext cx="5074920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057400"/>
            <a:ext cx="4572000" cy="3108960"/>
          </a:xfrm>
          <a:prstGeom prst="rect">
            <a:avLst/>
          </a:prstGeom>
          <a:noFill/>
        </p:spPr>
        <p:txBody>
          <a:bodyPr wrap="square" anchor="t">
            <a:normAutofit lnSpcReduction="20000"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61B21"/>
                </a:solidFill>
                <a:latin typeface="Menlo" panose="020B0609030804020204"/>
              </a:rPr>
              <a:t># 任务：041 — 排查链路异常</a:t>
            </a:r>
            <a:endParaRPr sz="16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61B21"/>
                </a:solidFill>
                <a:latin typeface="Menlo" panose="020B0609030804020204"/>
              </a:rPr>
              <a:t>状态：pending</a:t>
            </a:r>
            <a:endParaRPr sz="16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61B21"/>
                </a:solidFill>
                <a:latin typeface="Menlo" panose="020B0609030804020204"/>
              </a:rPr>
              <a:t>分配给：本地 </a:t>
            </a:r>
            <a:r>
              <a:rPr lang="en-US" sz="1600" b="0" i="0">
                <a:solidFill>
                  <a:srgbClr val="161B21"/>
                </a:solidFill>
                <a:latin typeface="Menlo" panose="020B0609030804020204"/>
              </a:rPr>
              <a:t>C</a:t>
            </a:r>
            <a:endParaRPr sz="16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61B21"/>
                </a:solidFill>
                <a:latin typeface="Menlo" panose="020B0609030804020204"/>
              </a:rPr>
              <a:t>执行环境：本地</a:t>
            </a:r>
            <a:endParaRPr sz="16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61B21"/>
                </a:solidFill>
                <a:latin typeface="Menlo" panose="020B0609030804020204"/>
              </a:rPr>
              <a:t>前置知识：</a:t>
            </a:r>
            <a:endParaRPr sz="16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61B21"/>
                </a:solidFill>
                <a:latin typeface="Menlo" panose="020B0609030804020204"/>
              </a:rPr>
              <a:t>背景：</a:t>
            </a:r>
            <a:endParaRPr sz="16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61B21"/>
                </a:solidFill>
                <a:latin typeface="Menlo" panose="020B0609030804020204"/>
              </a:rPr>
              <a:t>任务描述：</a:t>
            </a:r>
            <a:endParaRPr sz="16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61B21"/>
                </a:solidFill>
                <a:latin typeface="Menlo" panose="020B0609030804020204"/>
              </a:rPr>
              <a:t>输出要求：</a:t>
            </a:r>
            <a:endParaRPr sz="1600" b="0" i="0">
              <a:solidFill>
                <a:srgbClr val="161B21"/>
              </a:solidFill>
              <a:latin typeface="Menlo" panose="020B0609030804020204"/>
            </a:endParaRP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61B21"/>
                </a:solidFill>
                <a:latin typeface="Menlo" panose="020B0609030804020204"/>
              </a:rPr>
              <a:t>## 执行结果（由 AI 填写）</a:t>
            </a:r>
            <a:endParaRPr sz="1600" b="0" i="0">
              <a:solidFill>
                <a:srgbClr val="161B21"/>
              </a:solidFill>
              <a:latin typeface="Menlo" panose="020B0609030804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847088"/>
            <a:ext cx="4572000" cy="123444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956816"/>
            <a:ext cx="42428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固定下发格式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28232" y="2322576"/>
            <a:ext cx="4242816" cy="6126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64F5C"/>
                </a:solidFill>
                <a:latin typeface="PingFang SC" panose="020B0400000000000000" charset="-122"/>
              </a:rPr>
              <a:t>• ## 下一步（→ 本地 </a:t>
            </a:r>
            <a:r>
              <a:rPr lang="en-US" sz="1400" b="0" i="0">
                <a:solidFill>
                  <a:srgbClr val="464F5C"/>
                </a:solidFill>
                <a:latin typeface="PingFang SC" panose="020B0400000000000000" charset="-122"/>
              </a:rPr>
              <a:t>C</a:t>
            </a:r>
            <a:r>
              <a:rPr sz="1400" b="0" i="0">
                <a:solidFill>
                  <a:srgbClr val="464F5C"/>
                </a:solidFill>
                <a:latin typeface="PingFang SC" panose="020B0400000000000000" charset="-122"/>
              </a:rPr>
              <a:t>）</a:t>
            </a:r>
            <a:endParaRPr sz="14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64F5C"/>
                </a:solidFill>
                <a:latin typeface="PingFang SC" panose="020B0400000000000000" charset="-122"/>
              </a:rPr>
              <a:t>• 请先读取 C.md，然后执行 code-agent/tasks/041-xxx.md</a:t>
            </a:r>
            <a:endParaRPr sz="14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63640" y="3246120"/>
            <a:ext cx="4572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355848"/>
            <a:ext cx="42428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为什么它有效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28105" y="3721735"/>
            <a:ext cx="4407535" cy="612775"/>
          </a:xfrm>
          <a:prstGeom prst="rect">
            <a:avLst/>
          </a:prstGeom>
          <a:noFill/>
        </p:spPr>
        <p:txBody>
          <a:bodyPr wrap="square" anchor="t">
            <a:normAutofit lnSpcReduction="20000"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任务边界、背景、参考、验收都写成结构化文本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每个 AI 只读当前任务，不继承冗长历史对话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4645152"/>
            <a:ext cx="4572000" cy="1024128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754880"/>
            <a:ext cx="42428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7E500"/>
                </a:solidFill>
                <a:latin typeface="PingFang SC" panose="020B0400000000000000" charset="-122"/>
              </a:rPr>
              <a:t>一句话总结</a:t>
            </a:r>
            <a:endParaRPr sz="1800" b="1" i="0">
              <a:solidFill>
                <a:srgbClr val="F7E500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28232" y="5120640"/>
            <a:ext cx="4242816" cy="4023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highlight>
                  <a:srgbClr val="FFFF00"/>
                </a:highlight>
                <a:latin typeface="PingFang SC" panose="020B0400000000000000" charset="-122"/>
              </a:rPr>
              <a:t>与其让模型“记住一切”，不如让每次任务都只看该看的那部分。</a:t>
            </a:r>
            <a:endParaRPr sz="1500" b="0" i="0">
              <a:solidFill>
                <a:srgbClr val="464F5C"/>
              </a:solidFill>
              <a:highlight>
                <a:srgbClr val="FFFF00"/>
              </a:highlight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b="1" i="0">
                <a:solidFill>
                  <a:srgbClr val="FFFFFF"/>
                </a:solidFill>
                <a:latin typeface="Avenir Next" panose="020B0803020202020204"/>
              </a:rPr>
              <a:t>0</a:t>
            </a:r>
            <a:r>
              <a:rPr lang="en-US" b="1" i="0">
                <a:solidFill>
                  <a:srgbClr val="FFFFFF"/>
                </a:solidFill>
                <a:latin typeface="Avenir Next" panose="020B0803020202020204"/>
              </a:rPr>
              <a:t>4</a:t>
            </a:r>
            <a:endParaRPr lang="en-US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745"/>
            <a:ext cx="8137525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知识库之外，还管记忆和实例注册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协作能长期跑起来，靠的不只是 knowledge/，还靠 MEMORY.md 和 gpt-registry.md。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8680" y="2705734"/>
            <a:ext cx="630936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15463"/>
            <a:ext cx="57607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464F5C"/>
                </a:solidFill>
                <a:latin typeface="PingFang SC" panose="020B0400000000000000" charset="-122"/>
              </a:rPr>
              <a:t>knowledge/</a:t>
            </a:r>
            <a:endParaRPr sz="2000" b="1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3089783"/>
            <a:ext cx="57607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64F5C"/>
                </a:solidFill>
                <a:latin typeface="PingFang SC" panose="020B0400000000000000" charset="-122"/>
              </a:rPr>
              <a:t>主题化知识、章节索引、项目事实</a:t>
            </a:r>
            <a:endParaRPr sz="14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" y="3711575"/>
            <a:ext cx="6309360" cy="749808"/>
          </a:xfrm>
          <a:prstGeom prst="round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21303"/>
            <a:ext cx="57607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61B21"/>
                </a:solidFill>
                <a:latin typeface="PingFang SC" panose="020B0400000000000000" charset="-122"/>
              </a:rPr>
              <a:t>MEMORY.md</a:t>
            </a:r>
            <a:endParaRPr sz="2000" b="1" i="0">
              <a:solidFill>
                <a:srgbClr val="161B21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4095623"/>
            <a:ext cx="57607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61B21"/>
                </a:solidFill>
                <a:latin typeface="PingFang SC" panose="020B0400000000000000" charset="-122"/>
              </a:rPr>
              <a:t>跨项目规则、仓库拓扑、踩坑速记</a:t>
            </a:r>
            <a:endParaRPr sz="1400" b="0" i="0">
              <a:solidFill>
                <a:srgbClr val="161B21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4717415"/>
            <a:ext cx="6309360" cy="749808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27143"/>
            <a:ext cx="576072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PingFang SC" panose="020B0400000000000000" charset="-122"/>
              </a:rPr>
              <a:t>registry.md</a:t>
            </a:r>
            <a:endParaRPr sz="20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" y="5101463"/>
            <a:ext cx="576072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PingFang SC" panose="020B0400000000000000" charset="-122"/>
              </a:rPr>
              <a:t>实例注册、执行环境字段、dispatch 路由</a:t>
            </a:r>
            <a:endParaRPr sz="14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46720" y="2011680"/>
            <a:ext cx="3063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2121408"/>
            <a:ext cx="273405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/project-add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11185" y="2487295"/>
            <a:ext cx="2899410" cy="384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自动补项目拓扑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新项目接入全局视角立即可见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46720" y="3246120"/>
            <a:ext cx="3063240" cy="100584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355848"/>
            <a:ext cx="273405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/save · /restore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11185" y="3721735"/>
            <a:ext cx="2898775" cy="384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把某CC 的会话状态显式存档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长链路任务不必靠上下文硬记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46720" y="4480560"/>
            <a:ext cx="3063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4590288"/>
            <a:ext cx="273405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/optimize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11312" y="4956048"/>
            <a:ext cx="2734056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归档完成任务，收缩上下文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避免记忆层再次变成污染源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04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745"/>
            <a:ext cx="671195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某CC、某C、某G，别混在一个窗口里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同一个模型不必做所有事，角色分工比模型崇拜更重要。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9808" y="2011680"/>
            <a:ext cx="2743200" cy="320040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267712"/>
            <a:ext cx="23774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7E500"/>
                </a:solidFill>
                <a:latin typeface="Avenir Next" panose="020B0803020202020204"/>
              </a:rPr>
              <a:t>某CC</a:t>
            </a:r>
            <a:endParaRPr sz="2800" b="1" i="0">
              <a:solidFill>
                <a:srgbClr val="F7E500"/>
              </a:solidFill>
              <a:latin typeface="Avenir Next" panose="020B0803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2688" y="2852928"/>
            <a:ext cx="228600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PingFang SC" panose="020B0400000000000000" charset="-122"/>
              </a:rPr>
              <a:t>• 设计 / 协调 / Review</a:t>
            </a:r>
            <a:endParaRPr sz="1700" b="0" i="0">
              <a:solidFill>
                <a:srgbClr val="FFFFFF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PingFang SC" panose="020B0400000000000000" charset="-122"/>
              </a:rPr>
              <a:t>• 拆任务</a:t>
            </a:r>
            <a:endParaRPr sz="1700" b="0" i="0">
              <a:solidFill>
                <a:srgbClr val="FFFFFF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PingFang SC" panose="020B0400000000000000" charset="-122"/>
              </a:rPr>
              <a:t>• 控边界</a:t>
            </a:r>
            <a:endParaRPr sz="1700" b="0" i="0">
              <a:solidFill>
                <a:srgbClr val="FFFFFF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PingFang SC" panose="020B0400000000000000" charset="-122"/>
              </a:rPr>
              <a:t>• 决定下一步</a:t>
            </a:r>
            <a:endParaRPr sz="17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005072" y="2011680"/>
            <a:ext cx="2743200" cy="3200400"/>
          </a:xfrm>
          <a:prstGeom prst="round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952" y="2267712"/>
            <a:ext cx="23774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61B21"/>
                </a:solidFill>
                <a:latin typeface="Avenir Next" panose="020B0803020202020204"/>
              </a:rPr>
              <a:t>某C</a:t>
            </a:r>
            <a:endParaRPr sz="2800" b="1" i="0">
              <a:solidFill>
                <a:srgbClr val="161B21"/>
              </a:solidFill>
              <a:latin typeface="Avenir Next" panose="020B0803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87952" y="2852928"/>
            <a:ext cx="228600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64F5C"/>
                </a:solidFill>
                <a:latin typeface="PingFang SC" panose="020B0400000000000000" charset="-122"/>
              </a:rPr>
              <a:t>• 实现 / 修复 / 调试</a:t>
            </a:r>
            <a:endParaRPr sz="17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64F5C"/>
                </a:solidFill>
                <a:latin typeface="PingFang SC" panose="020B0400000000000000" charset="-122"/>
              </a:rPr>
              <a:t>• 多文件改动</a:t>
            </a:r>
            <a:endParaRPr sz="17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64F5C"/>
                </a:solidFill>
                <a:latin typeface="PingFang SC" panose="020B0400000000000000" charset="-122"/>
              </a:rPr>
              <a:t>• 跑测试</a:t>
            </a:r>
            <a:endParaRPr sz="17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64F5C"/>
                </a:solidFill>
                <a:latin typeface="PingFang SC" panose="020B0400000000000000" charset="-122"/>
              </a:rPr>
              <a:t>• 直接交付修改结果</a:t>
            </a:r>
            <a:endParaRPr sz="17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260336" y="2011680"/>
            <a:ext cx="27432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3216" y="2267712"/>
            <a:ext cx="23774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Avenir Next" panose="020B0803020202020204"/>
              </a:rPr>
              <a:t>某G</a:t>
            </a:r>
            <a:endParaRPr sz="2800" b="1" i="0">
              <a:solidFill>
                <a:srgbClr val="1E2A48"/>
              </a:solidFill>
              <a:latin typeface="Avenir Next" panose="020B0803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43216" y="2852928"/>
            <a:ext cx="228600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64F5C"/>
                </a:solidFill>
                <a:latin typeface="PingFang SC" panose="020B0400000000000000" charset="-122"/>
              </a:rPr>
              <a:t>• 大规模读代码</a:t>
            </a:r>
            <a:endParaRPr sz="17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64F5C"/>
                </a:solidFill>
                <a:latin typeface="PingFang SC" panose="020B0400000000000000" charset="-122"/>
              </a:rPr>
              <a:t>• 做调研和归纳</a:t>
            </a:r>
            <a:endParaRPr sz="17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64F5C"/>
                </a:solidFill>
                <a:latin typeface="PingFang SC" panose="020B0400000000000000" charset="-122"/>
              </a:rPr>
              <a:t>• 公开项目检索</a:t>
            </a:r>
            <a:endParaRPr sz="17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64F5C"/>
                </a:solidFill>
                <a:latin typeface="PingFang SC" panose="020B0400000000000000" charset="-122"/>
              </a:rPr>
              <a:t>• 整理知识库</a:t>
            </a:r>
            <a:endParaRPr sz="17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188720" y="5486400"/>
            <a:ext cx="932688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5577840"/>
            <a:ext cx="886968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7E500"/>
                </a:solidFill>
                <a:latin typeface="PingFang SC" panose="020B0400000000000000" charset="-122"/>
              </a:rPr>
              <a:t>一个简单路由规则：先让某G 调研，再让某C 落地，最后由某CC 收口。</a:t>
            </a:r>
            <a:endParaRPr sz="1700" b="1" i="0">
              <a:solidFill>
                <a:srgbClr val="F7E500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venir Next" panose="020B0803020202020204"/>
              </a:rPr>
              <a:t>04</a:t>
            </a:r>
            <a:endParaRPr sz="17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人的价值被抬高了，不是被替代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AI 接管的是重复实现，人更应该把精力放在定义问题和验收结果上。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2011680"/>
            <a:ext cx="36576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zh-CN" sz="1500" b="1" i="0">
                <a:solidFill>
                  <a:srgbClr val="1E2A48"/>
                </a:solidFill>
                <a:latin typeface="PingFang SC" panose="020B0400000000000000" charset="-122"/>
              </a:rPr>
              <a:t>同样产出下，人时消耗对比</a:t>
            </a:r>
            <a:endParaRPr lang="zh-CN" sz="15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2514600"/>
            <a:ext cx="11887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64F5C"/>
                </a:solidFill>
                <a:latin typeface="PingFang SC" panose="020B0400000000000000" charset="-122"/>
              </a:rPr>
              <a:t>设计</a:t>
            </a:r>
            <a:endParaRPr sz="1500" b="1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011680" y="2560320"/>
            <a:ext cx="274320" cy="182880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ectangle 14"/>
          <p:cNvSpPr/>
          <p:nvPr/>
        </p:nvSpPr>
        <p:spPr>
          <a:xfrm>
            <a:off x="5486400" y="2560320"/>
            <a:ext cx="548640" cy="147955"/>
          </a:xfrm>
          <a:prstGeom prst="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4160520" y="2496312"/>
            <a:ext cx="457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10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35240" y="2496312"/>
            <a:ext cx="457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lang="en-US" sz="1600" b="0" i="0">
                <a:solidFill>
                  <a:srgbClr val="464F5C"/>
                </a:solidFill>
                <a:latin typeface="PingFang SC" panose="020B0400000000000000" charset="-122"/>
              </a:rPr>
              <a:t>2</a:t>
            </a:r>
            <a:r>
              <a:rPr sz="1600" b="0" i="0">
                <a:solidFill>
                  <a:srgbClr val="464F5C"/>
                </a:solidFill>
                <a:latin typeface="PingFang SC" panose="020B0400000000000000" charset="-122"/>
              </a:rPr>
              <a:t>0</a:t>
            </a:r>
            <a:endParaRPr sz="16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3383280"/>
            <a:ext cx="11887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64F5C"/>
                </a:solidFill>
                <a:latin typeface="PingFang SC" panose="020B0400000000000000" charset="-122"/>
              </a:rPr>
              <a:t>开发</a:t>
            </a:r>
            <a:endParaRPr sz="1500" b="1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11680" y="3429000"/>
            <a:ext cx="1920240" cy="182880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5486400" y="3429000"/>
            <a:ext cx="274320" cy="182880"/>
          </a:xfrm>
          <a:prstGeom prst="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4160520" y="3364992"/>
            <a:ext cx="457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70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35240" y="3364992"/>
            <a:ext cx="457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10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6112" y="4251960"/>
            <a:ext cx="11887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64F5C"/>
                </a:solidFill>
                <a:latin typeface="PingFang SC" panose="020B0400000000000000" charset="-122"/>
              </a:rPr>
              <a:t>测试/调试</a:t>
            </a:r>
            <a:endParaRPr sz="1500" b="1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011680" y="4297680"/>
            <a:ext cx="548640" cy="182880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Rectangle 24"/>
          <p:cNvSpPr/>
          <p:nvPr/>
        </p:nvSpPr>
        <p:spPr>
          <a:xfrm>
            <a:off x="5486400" y="4297680"/>
            <a:ext cx="548640" cy="182880"/>
          </a:xfrm>
          <a:prstGeom prst="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4160520" y="4233672"/>
            <a:ext cx="457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20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35240" y="4233672"/>
            <a:ext cx="4572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20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11680" y="2267712"/>
            <a:ext cx="246888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6F7881"/>
                </a:solidFill>
                <a:latin typeface="PingFang SC" panose="020B0400000000000000" charset="-122"/>
              </a:rPr>
              <a:t>传统开发</a:t>
            </a:r>
            <a:endParaRPr sz="15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0" y="2267712"/>
            <a:ext cx="246888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6F7881"/>
                </a:solidFill>
                <a:latin typeface="PingFang SC" panose="020B0400000000000000" charset="-122"/>
              </a:rPr>
              <a:t>AI 协作开发</a:t>
            </a:r>
            <a:endParaRPr sz="16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29600" y="2011680"/>
            <a:ext cx="29260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2121408"/>
            <a:ext cx="2596896" cy="320040"/>
          </a:xfrm>
          <a:prstGeom prst="rect">
            <a:avLst/>
          </a:prstGeom>
          <a:noFill/>
        </p:spPr>
        <p:txBody>
          <a:bodyPr wrap="square" anchor="t">
            <a:normAutofit fontScale="90000" lnSpcReduction="10000"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人该高介入的地方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94192" y="2487168"/>
            <a:ext cx="2596896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64F5C"/>
                </a:solidFill>
                <a:latin typeface="PingFang SC" panose="020B0400000000000000" charset="-122"/>
              </a:rPr>
              <a:t>• 任务边界是否准确</a:t>
            </a:r>
            <a:endParaRPr sz="14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64F5C"/>
                </a:solidFill>
                <a:latin typeface="PingFang SC" panose="020B0400000000000000" charset="-122"/>
              </a:rPr>
              <a:t>• 跨仓库怎么路由</a:t>
            </a:r>
            <a:endParaRPr sz="14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64F5C"/>
                </a:solidFill>
                <a:latin typeface="PingFang SC" panose="020B0400000000000000" charset="-122"/>
              </a:rPr>
              <a:t>• 集成结果能不能信</a:t>
            </a:r>
            <a:endParaRPr sz="14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229600" y="3657600"/>
            <a:ext cx="2926080" cy="137160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3767328"/>
            <a:ext cx="2596896" cy="320040"/>
          </a:xfrm>
          <a:prstGeom prst="rect">
            <a:avLst/>
          </a:prstGeom>
          <a:noFill/>
        </p:spPr>
        <p:txBody>
          <a:bodyPr wrap="square" anchor="t">
            <a:normAutofit fontScale="90000" lnSpcReduction="10000"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可以低介入的地方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94192" y="4133088"/>
            <a:ext cx="2596896" cy="74980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64F5C"/>
                </a:solidFill>
                <a:latin typeface="PingFang SC" panose="020B0400000000000000" charset="-122"/>
              </a:rPr>
              <a:t>• 模板化编码任务</a:t>
            </a:r>
            <a:endParaRPr sz="14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64F5C"/>
                </a:solidFill>
                <a:latin typeface="PingFang SC" panose="020B0400000000000000" charset="-122"/>
              </a:rPr>
              <a:t>• 知识库整理</a:t>
            </a:r>
            <a:endParaRPr sz="14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64F5C"/>
                </a:solidFill>
                <a:latin typeface="PingFang SC" panose="020B0400000000000000" charset="-122"/>
              </a:rPr>
              <a:t>• Mock / 脚手架生成</a:t>
            </a:r>
            <a:endParaRPr sz="14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36" name="TextBox 11"/>
          <p:cNvSpPr txBox="1"/>
          <p:nvPr/>
        </p:nvSpPr>
        <p:spPr>
          <a:xfrm>
            <a:off x="895985" y="4819015"/>
            <a:ext cx="605345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zh-CN" sz="1500" b="1" i="0">
                <a:solidFill>
                  <a:srgbClr val="1E2A48"/>
                </a:solidFill>
                <a:latin typeface="PingFang SC" panose="020B0400000000000000" charset="-122"/>
              </a:rPr>
              <a:t>效率翻倍就是很好的实践</a:t>
            </a:r>
            <a:endParaRPr lang="zh-CN" sz="1500" b="1" i="0">
              <a:solidFill>
                <a:srgbClr val="1E2A48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lang="zh-CN" sz="1500" b="1" i="0">
                <a:solidFill>
                  <a:srgbClr val="1E2A48"/>
                </a:solidFill>
                <a:latin typeface="PingFang SC" panose="020B0400000000000000" charset="-122"/>
              </a:rPr>
              <a:t>更多的设计开销和固定的测试开销，可以提升软件</a:t>
            </a:r>
            <a:r>
              <a:rPr lang="zh-CN" sz="1500" b="1" i="0">
                <a:solidFill>
                  <a:srgbClr val="1E2A48"/>
                </a:solidFill>
                <a:latin typeface="PingFang SC" panose="020B0400000000000000" charset="-122"/>
              </a:rPr>
              <a:t>质量</a:t>
            </a:r>
            <a:endParaRPr lang="zh-CN" sz="1500" b="1" i="0">
              <a:solidFill>
                <a:srgbClr val="1E2A48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lang="en-US" altLang="zh-CN" sz="1500" b="1" i="0">
                <a:solidFill>
                  <a:srgbClr val="1E2A48"/>
                </a:solidFill>
                <a:latin typeface="PingFang SC" panose="020B0400000000000000" charset="-122"/>
              </a:rPr>
              <a:t>X5 X10</a:t>
            </a:r>
            <a:r>
              <a:rPr lang="zh-CN" altLang="en-US" sz="1500" b="1" i="0">
                <a:solidFill>
                  <a:srgbClr val="1E2A48"/>
                </a:solidFill>
                <a:latin typeface="PingFang SC" panose="020B0400000000000000" charset="-122"/>
              </a:rPr>
              <a:t>短期只是</a:t>
            </a:r>
            <a:r>
              <a:rPr lang="en-US" altLang="zh-CN" sz="1500" b="1" i="0">
                <a:solidFill>
                  <a:srgbClr val="1E2A48"/>
                </a:solidFill>
                <a:latin typeface="PingFang SC" panose="020B0400000000000000" charset="-122"/>
              </a:rPr>
              <a:t>demo</a:t>
            </a:r>
            <a:r>
              <a:rPr lang="zh-CN" altLang="en-US" sz="1500" b="1" i="0">
                <a:solidFill>
                  <a:srgbClr val="1E2A48"/>
                </a:solidFill>
                <a:latin typeface="PingFang SC" panose="020B0400000000000000" charset="-122"/>
              </a:rPr>
              <a:t>级的</a:t>
            </a:r>
            <a:r>
              <a:rPr lang="zh-CN" altLang="en-US" sz="1500" b="1" i="0">
                <a:solidFill>
                  <a:srgbClr val="1E2A48"/>
                </a:solidFill>
                <a:latin typeface="PingFang SC" panose="020B0400000000000000" charset="-122"/>
              </a:rPr>
              <a:t>神话</a:t>
            </a:r>
            <a:endParaRPr lang="zh-CN" altLang="en-US" sz="15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05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我们已经把 AI 协作编程走到什么程度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从</a:t>
            </a:r>
            <a:r>
              <a:rPr lang="zh-CN" sz="1400" b="0" i="0">
                <a:solidFill>
                  <a:srgbClr val="6F7881"/>
                </a:solidFill>
                <a:latin typeface="PingFang SC" panose="020B0400000000000000" charset="-122"/>
              </a:rPr>
              <a:t>任务</a:t>
            </a: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模板到</a:t>
            </a:r>
            <a:r>
              <a:rPr lang="zh-CN" sz="1400" b="0" i="0">
                <a:solidFill>
                  <a:srgbClr val="6F7881"/>
                </a:solidFill>
                <a:latin typeface="PingFang SC" panose="020B0400000000000000" charset="-122"/>
              </a:rPr>
              <a:t>知识库</a:t>
            </a: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，再到多实例路由，这已经是一套持续运行的工程能力。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" y="2011680"/>
            <a:ext cx="2240280" cy="105156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57984"/>
            <a:ext cx="2240280" cy="457200"/>
          </a:xfrm>
          <a:prstGeom prst="rect">
            <a:avLst/>
          </a:prstGeom>
          <a:noFill/>
        </p:spPr>
        <p:txBody>
          <a:bodyPr wrap="square" anchor="t">
            <a:normAutofit fontScale="80000"/>
          </a:bodyPr>
          <a:lstStyle/>
          <a:p>
            <a:pPr algn="ctr">
              <a:spcAft>
                <a:spcPts val="600"/>
              </a:spcAft>
            </a:pPr>
            <a:r>
              <a:rPr lang="en-US" sz="2800" b="1" i="0">
                <a:solidFill>
                  <a:srgbClr val="F7E500"/>
                </a:solidFill>
                <a:latin typeface="Avenir Next" panose="020B0803020202020204"/>
              </a:rPr>
              <a:t>150</a:t>
            </a:r>
            <a:r>
              <a:rPr sz="2800" b="1" i="0">
                <a:solidFill>
                  <a:srgbClr val="F7E500"/>
                </a:solidFill>
                <a:latin typeface="Avenir Next" panose="020B0803020202020204"/>
              </a:rPr>
              <a:t>0+</a:t>
            </a:r>
            <a:endParaRPr sz="2800" b="1" i="0">
              <a:solidFill>
                <a:srgbClr val="F7E500"/>
              </a:solidFill>
              <a:latin typeface="Avenir Next" panose="020B0803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2670048"/>
            <a:ext cx="2093976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PingFang SC" panose="020B0400000000000000" charset="-122"/>
              </a:rPr>
              <a:t>可追踪任务</a:t>
            </a:r>
            <a:endParaRPr sz="13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520440" y="2011680"/>
            <a:ext cx="2240280" cy="105156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57984"/>
            <a:ext cx="2240280" cy="457200"/>
          </a:xfrm>
          <a:prstGeom prst="rect">
            <a:avLst/>
          </a:prstGeom>
          <a:noFill/>
        </p:spPr>
        <p:txBody>
          <a:bodyPr wrap="square" anchor="t">
            <a:normAutofit fontScale="80000"/>
          </a:bodyPr>
          <a:lstStyle/>
          <a:p>
            <a:pPr algn="ctr">
              <a:spcAft>
                <a:spcPts val="600"/>
              </a:spcAft>
            </a:pPr>
            <a:r>
              <a:rPr lang="en-US" sz="2800" b="1" i="0">
                <a:solidFill>
                  <a:srgbClr val="F7E500"/>
                </a:solidFill>
                <a:latin typeface="Avenir Next" panose="020B0803020202020204"/>
              </a:rPr>
              <a:t>20</a:t>
            </a:r>
            <a:r>
              <a:rPr sz="2800" b="1" i="0">
                <a:solidFill>
                  <a:srgbClr val="F7E500"/>
                </a:solidFill>
                <a:latin typeface="Avenir Next" panose="020B0803020202020204"/>
              </a:rPr>
              <a:t>0+</a:t>
            </a:r>
            <a:endParaRPr sz="2800" b="1" i="0">
              <a:solidFill>
                <a:srgbClr val="F7E500"/>
              </a:solidFill>
              <a:latin typeface="Avenir Next" panose="020B0803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93592" y="2670048"/>
            <a:ext cx="2093976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PingFang SC" panose="020B0400000000000000" charset="-122"/>
              </a:rPr>
              <a:t>主题化知识文件</a:t>
            </a:r>
            <a:endParaRPr sz="13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2240280" cy="105156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157984"/>
            <a:ext cx="2240280" cy="457200"/>
          </a:xfrm>
          <a:prstGeom prst="rect">
            <a:avLst/>
          </a:prstGeom>
          <a:noFill/>
        </p:spPr>
        <p:txBody>
          <a:bodyPr wrap="square" anchor="t">
            <a:normAutofit fontScale="80000"/>
          </a:bodyPr>
          <a:lstStyle/>
          <a:p>
            <a:pPr algn="ctr">
              <a:spcAft>
                <a:spcPts val="600"/>
              </a:spcAft>
            </a:pPr>
            <a:r>
              <a:rPr lang="en-US" sz="2800" b="1" i="0">
                <a:solidFill>
                  <a:srgbClr val="F7E500"/>
                </a:solidFill>
                <a:latin typeface="Avenir Next" panose="020B0803020202020204"/>
              </a:rPr>
              <a:t>20+</a:t>
            </a:r>
            <a:endParaRPr lang="en-US" sz="2800" b="1" i="0">
              <a:solidFill>
                <a:srgbClr val="F7E500"/>
              </a:solidFill>
              <a:latin typeface="Avenir Next" panose="020B0803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91072" y="2670048"/>
            <a:ext cx="2093976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PingFang SC" panose="020B0400000000000000" charset="-122"/>
              </a:rPr>
              <a:t>AI 实例</a:t>
            </a:r>
            <a:endParaRPr sz="13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915400" y="2011680"/>
            <a:ext cx="2240280" cy="105156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157984"/>
            <a:ext cx="2240280" cy="457200"/>
          </a:xfrm>
          <a:prstGeom prst="rect">
            <a:avLst/>
          </a:prstGeom>
          <a:noFill/>
        </p:spPr>
        <p:txBody>
          <a:bodyPr wrap="square" anchor="t">
            <a:normAutofit fontScale="80000"/>
          </a:bodyPr>
          <a:lstStyle/>
          <a:p>
            <a:pPr algn="ctr">
              <a:spcAft>
                <a:spcPts val="600"/>
              </a:spcAft>
            </a:pPr>
            <a:r>
              <a:rPr lang="en-US" sz="2800" b="1" i="0">
                <a:solidFill>
                  <a:srgbClr val="F7E500"/>
                </a:solidFill>
                <a:latin typeface="Avenir Next" panose="020B0803020202020204"/>
              </a:rPr>
              <a:t>10+</a:t>
            </a:r>
            <a:endParaRPr lang="en-US" sz="2800" b="1" i="0">
              <a:solidFill>
                <a:srgbClr val="F7E500"/>
              </a:solidFill>
              <a:latin typeface="Avenir Next" panose="020B0803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88552" y="2670048"/>
            <a:ext cx="2093976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PingFang SC" panose="020B0400000000000000" charset="-122"/>
              </a:rPr>
              <a:t>相关仓库</a:t>
            </a:r>
            <a:endParaRPr sz="13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22960" y="3657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767328"/>
            <a:ext cx="305409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可重复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7552" y="4133088"/>
            <a:ext cx="3054096" cy="9326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同类问题不需要重新靠聊天碰运气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任务模板、知识引用、路由方式都能复用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89120" y="3657600"/>
            <a:ext cx="3383280" cy="155448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767328"/>
            <a:ext cx="305409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可追溯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53712" y="4133088"/>
            <a:ext cx="3054096" cy="9326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每次任务都有上下文和结论记录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后续复盘时知道当时为什么这么做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955279" y="3657600"/>
            <a:ext cx="33832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1" y="3767328"/>
            <a:ext cx="305409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可积累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19871" y="4133088"/>
            <a:ext cx="3054096" cy="9326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经验不再散落在对话里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新同学可以直接站在旧结论上继续做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05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为什么大多数团队还没跑起来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这套方法有门槛，而且门槛不在模型订阅费，而在工程纪律。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" y="2011680"/>
            <a:ext cx="4572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121408"/>
            <a:ext cx="42428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任务文件质量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2487168"/>
            <a:ext cx="4242816" cy="7955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背景写错，后面所有执行都偏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边界模糊，AI 一定会扩张理解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26480" y="2011680"/>
            <a:ext cx="4572000" cy="141732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121408"/>
            <a:ext cx="42428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路由策略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91072" y="2487168"/>
            <a:ext cx="4242816" cy="7955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不是 AI 越多越好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角色重叠只会把信息变得更乱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3886200"/>
            <a:ext cx="4572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995928"/>
            <a:ext cx="42428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知识库维护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87552" y="4361688"/>
            <a:ext cx="4242816" cy="7955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如果长期不整理，就会变成另一种污染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需要定期归并和淘汰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26480" y="3886200"/>
            <a:ext cx="4572000" cy="141732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3995928"/>
            <a:ext cx="42428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团队节奏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91072" y="4361688"/>
            <a:ext cx="4242816" cy="7955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先设计、后下发、再验收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和传统“边写边想”习惯不同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6675120" y="822960"/>
            <a:ext cx="1828800" cy="29260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640080" cy="109728"/>
          </a:xfrm>
          <a:prstGeom prst="rect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94360"/>
            <a:ext cx="822960" cy="41148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658368"/>
            <a:ext cx="749808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venir Next" panose="020B0803020202020204"/>
              </a:rPr>
              <a:t>05</a:t>
            </a:r>
            <a:endParaRPr sz="1800" b="1" i="0">
              <a:solidFill>
                <a:srgbClr val="FFFFFF"/>
              </a:solidFill>
              <a:latin typeface="Avenir Next" panose="020B0803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6217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E2A48"/>
                </a:solidFill>
                <a:latin typeface="PingFang SC" panose="020B0400000000000000" charset="-122"/>
              </a:rPr>
              <a:t>为什么这件事还值得继续做</a:t>
            </a:r>
            <a:endParaRPr sz="2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764792"/>
            <a:ext cx="81381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881"/>
                </a:solidFill>
                <a:latin typeface="PingFang SC" panose="020B0400000000000000" charset="-122"/>
              </a:rPr>
              <a:t>如果只是把 AI 当聊天工具，天花板很低；把它当协作系统，空间才刚开始。</a:t>
            </a:r>
            <a:endParaRPr sz="1400" b="0" i="0">
              <a:solidFill>
                <a:srgbClr val="6F7881"/>
              </a:solidFill>
              <a:latin typeface="PingFang SC" panose="020B0400000000000000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6428232"/>
            <a:ext cx="10149840" cy="27432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6062472"/>
            <a:ext cx="1143000" cy="431242"/>
          </a:xfrm>
          <a:prstGeom prst="rect">
            <a:avLst/>
          </a:prstGeom>
        </p:spPr>
      </p:pic>
      <p:sp>
        <p:nvSpPr>
          <p:cNvPr id="12" name="Rounded Rectangle 11"/>
          <p:cNvSpPr/>
          <p:nvPr>
            <p:custDataLst>
              <p:tags r:id="rId2"/>
            </p:custDataLst>
          </p:nvPr>
        </p:nvSpPr>
        <p:spPr>
          <a:xfrm>
            <a:off x="822960" y="2106295"/>
            <a:ext cx="34290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987552" y="2216023"/>
            <a:ext cx="30998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下一步会继续做什么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987552" y="2581783"/>
            <a:ext cx="3099816" cy="15727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把路由策略做得更稳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把任务质量控制做得更细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把 knowledge / memory 的同步做得更自动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5"/>
            </p:custDataLst>
          </p:nvPr>
        </p:nvSpPr>
        <p:spPr>
          <a:xfrm>
            <a:off x="4434840" y="2106295"/>
            <a:ext cx="3429000" cy="2194560"/>
          </a:xfrm>
          <a:prstGeom prst="roundRect">
            <a:avLst/>
          </a:prstGeom>
          <a:solidFill>
            <a:srgbClr val="E6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4599432" y="2216023"/>
            <a:ext cx="309981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A48"/>
                </a:solidFill>
                <a:latin typeface="PingFang SC" panose="020B0400000000000000" charset="-122"/>
              </a:rPr>
              <a:t>对行业真正有价值的点</a:t>
            </a:r>
            <a:endParaRPr sz="1800" b="1" i="0">
              <a:solidFill>
                <a:srgbClr val="1E2A48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7"/>
            </p:custDataLst>
          </p:nvPr>
        </p:nvSpPr>
        <p:spPr>
          <a:xfrm>
            <a:off x="4599432" y="2581783"/>
            <a:ext cx="3099816" cy="15727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不是让一个模型更努力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而是让多个模型能像团队一样协作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latin typeface="PingFang SC" panose="020B0400000000000000" charset="-122"/>
              </a:rPr>
              <a:t>• 把经验固定成可复制的方法和工具</a:t>
            </a:r>
            <a:endParaRPr sz="1500" b="0" i="0">
              <a:solidFill>
                <a:srgbClr val="464F5C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>
            <p:custDataLst>
              <p:tags r:id="rId8"/>
            </p:custDataLst>
          </p:nvPr>
        </p:nvSpPr>
        <p:spPr>
          <a:xfrm>
            <a:off x="8046720" y="2106295"/>
            <a:ext cx="3154680" cy="219456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8211312" y="2216023"/>
            <a:ext cx="2825496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7E500"/>
                </a:solidFill>
                <a:latin typeface="PingFang SC" panose="020B0400000000000000" charset="-122"/>
              </a:rPr>
              <a:t>会后可以聊什么</a:t>
            </a:r>
            <a:endParaRPr sz="1800" b="1" i="0">
              <a:solidFill>
                <a:srgbClr val="F7E500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8211312" y="2581783"/>
            <a:ext cx="2825496" cy="15727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highlight>
                  <a:srgbClr val="FFFF00"/>
                </a:highlight>
                <a:latin typeface="PingFang SC" panose="020B0400000000000000" charset="-122"/>
              </a:rPr>
              <a:t>你在团队里怎么分配 AI 角色</a:t>
            </a:r>
            <a:endParaRPr sz="1500" b="0" i="0">
              <a:solidFill>
                <a:srgbClr val="464F5C"/>
              </a:solidFill>
              <a:highlight>
                <a:srgbClr val="FFFF00"/>
              </a:highlight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highlight>
                  <a:srgbClr val="FFFF00"/>
                </a:highlight>
                <a:latin typeface="PingFang SC" panose="020B0400000000000000" charset="-122"/>
              </a:rPr>
              <a:t>任务文件怎么写才不会失真</a:t>
            </a:r>
            <a:endParaRPr sz="1500" b="0" i="0">
              <a:solidFill>
                <a:srgbClr val="464F5C"/>
              </a:solidFill>
              <a:highlight>
                <a:srgbClr val="FFFF00"/>
              </a:highlight>
              <a:latin typeface="PingFang SC" panose="020B0400000000000000" charset="-122"/>
            </a:endParaRP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64F5C"/>
                </a:solidFill>
                <a:highlight>
                  <a:srgbClr val="FFFF00"/>
                </a:highlight>
                <a:latin typeface="PingFang SC" panose="020B0400000000000000" charset="-122"/>
              </a:rPr>
              <a:t>知识库和 memory 怎么长期维护</a:t>
            </a:r>
            <a:endParaRPr sz="1500" b="0" i="0">
              <a:solidFill>
                <a:srgbClr val="464F5C"/>
              </a:solidFill>
              <a:highlight>
                <a:srgbClr val="FFFF00"/>
              </a:highlight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400" y="4709160"/>
            <a:ext cx="10241280" cy="777240"/>
          </a:xfrm>
          <a:prstGeom prst="round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910328"/>
            <a:ext cx="978408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7E500"/>
                </a:solidFill>
                <a:latin typeface="PingFang SC" panose="020B0400000000000000" charset="-122"/>
              </a:rPr>
              <a:t>如果你也在做类似探索，欢迎会后交流。</a:t>
            </a:r>
            <a:endParaRPr sz="2000" b="1" i="0">
              <a:solidFill>
                <a:srgbClr val="F7E500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0" y="182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spcAft>
                <a:spcPts val="600"/>
              </a:spcAft>
            </a:pPr>
            <a:r>
              <a:rPr sz="1300" b="0" i="0">
                <a:solidFill>
                  <a:srgbClr val="464F5C"/>
                </a:solidFill>
                <a:latin typeface="Arial" panose="020B0604020202090204"/>
              </a:rPr>
              <a:t>Create the Best Computing Power</a:t>
            </a:r>
            <a:endParaRPr sz="1300" b="0" i="0">
              <a:solidFill>
                <a:srgbClr val="464F5C"/>
              </a:solidFill>
              <a:latin typeface="Arial" panose="020B0604020202090204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-320040" y="1051560"/>
            <a:ext cx="5212080" cy="4663440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0" y="1508760"/>
            <a:ext cx="8412480" cy="4526280"/>
          </a:xfrm>
          <a:prstGeom prst="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6583680" y="1115568"/>
            <a:ext cx="1828800" cy="274320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10195560" y="5413248"/>
            <a:ext cx="1371600" cy="566928"/>
          </a:xfrm>
          <a:prstGeom prst="parallelogram">
            <a:avLst/>
          </a:prstGeom>
          <a:solidFill>
            <a:srgbClr val="6DB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2331720"/>
            <a:ext cx="566928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000" b="1" i="1">
                <a:solidFill>
                  <a:srgbClr val="F7E500"/>
                </a:solidFill>
                <a:latin typeface="Avenir Next" panose="020B0803020202020204"/>
              </a:rPr>
              <a:t>THANK YOU</a:t>
            </a:r>
            <a:endParaRPr sz="3000" b="1" i="1">
              <a:solidFill>
                <a:srgbClr val="F7E500"/>
              </a:solidFill>
              <a:latin typeface="Avenir Next" panose="020B0803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92040" y="3063240"/>
            <a:ext cx="5943600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PingFang SC" panose="020B0400000000000000" charset="-122"/>
              </a:rPr>
              <a:t>AI 协作编程，值得当成工程系统来做</a:t>
            </a:r>
            <a:endParaRPr sz="22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92040" y="3822191"/>
            <a:ext cx="566928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PingFang SC" panose="020B0400000000000000" charset="-122"/>
              </a:rPr>
              <a:t>欢迎会后交流。</a:t>
            </a:r>
            <a:endParaRPr sz="1800" b="0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83480" y="4645152"/>
            <a:ext cx="420624" cy="54864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3480" y="4791456"/>
            <a:ext cx="5806440" cy="18288"/>
          </a:xfrm>
          <a:prstGeom prst="rect">
            <a:avLst/>
          </a:prstGeom>
          <a:solidFill>
            <a:srgbClr val="F7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4498848"/>
            <a:ext cx="1417320" cy="5347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2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3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4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5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6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7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8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9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10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11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12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13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14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15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16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17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18.xml><?xml version="1.0" encoding="utf-8"?>
<p:tagLst xmlns:p="http://schemas.openxmlformats.org/presentationml/2006/main">
  <p:tag name="KSO_WM_DIAGRAM_VIRTUALLY_FRAME" val="{&quot;height&quot;:262.8,&quot;left&quot;:61.2,&quot;top&quot;:158.4,&quot;width&quot;:720}"/>
</p:tagLst>
</file>

<file path=ppt/tags/tag19.xml><?xml version="1.0" encoding="utf-8"?>
<p:tagLst xmlns:p="http://schemas.openxmlformats.org/presentationml/2006/main">
  <p:tag name="KSO_WM_DIAGRAM_VIRTUALLY_FRAME" val="{&quot;height&quot;:248.4,&quot;left&quot;:64.8,&quot;top&quot;:169.9,&quot;width&quot;:810}"/>
</p:tagLst>
</file>

<file path=ppt/tags/tag20.xml><?xml version="1.0" encoding="utf-8"?>
<p:tagLst xmlns:p="http://schemas.openxmlformats.org/presentationml/2006/main">
  <p:tag name="KSO_WM_DIAGRAM_VIRTUALLY_FRAME" val="{&quot;height&quot;:248.4,&quot;left&quot;:64.8,&quot;top&quot;:169.9,&quot;width&quot;:810}"/>
</p:tagLst>
</file>

<file path=ppt/tags/tag21.xml><?xml version="1.0" encoding="utf-8"?>
<p:tagLst xmlns:p="http://schemas.openxmlformats.org/presentationml/2006/main">
  <p:tag name="KSO_WM_DIAGRAM_VIRTUALLY_FRAME" val="{&quot;height&quot;:248.4,&quot;left&quot;:64.8,&quot;top&quot;:169.9,&quot;width&quot;:810}"/>
</p:tagLst>
</file>

<file path=ppt/tags/tag22.xml><?xml version="1.0" encoding="utf-8"?>
<p:tagLst xmlns:p="http://schemas.openxmlformats.org/presentationml/2006/main">
  <p:tag name="KSO_WM_DIAGRAM_VIRTUALLY_FRAME" val="{&quot;height&quot;:248.4,&quot;left&quot;:64.8,&quot;top&quot;:169.9,&quot;width&quot;:810}"/>
</p:tagLst>
</file>

<file path=ppt/tags/tag23.xml><?xml version="1.0" encoding="utf-8"?>
<p:tagLst xmlns:p="http://schemas.openxmlformats.org/presentationml/2006/main">
  <p:tag name="KSO_WM_DIAGRAM_VIRTUALLY_FRAME" val="{&quot;height&quot;:248.4,&quot;left&quot;:64.8,&quot;top&quot;:169.9,&quot;width&quot;:810}"/>
</p:tagLst>
</file>

<file path=ppt/tags/tag24.xml><?xml version="1.0" encoding="utf-8"?>
<p:tagLst xmlns:p="http://schemas.openxmlformats.org/presentationml/2006/main">
  <p:tag name="KSO_WM_DIAGRAM_VIRTUALLY_FRAME" val="{&quot;height&quot;:248.4,&quot;left&quot;:64.8,&quot;top&quot;:169.9,&quot;width&quot;:810}"/>
</p:tagLst>
</file>

<file path=ppt/tags/tag25.xml><?xml version="1.0" encoding="utf-8"?>
<p:tagLst xmlns:p="http://schemas.openxmlformats.org/presentationml/2006/main">
  <p:tag name="KSO_WM_DIAGRAM_VIRTUALLY_FRAME" val="{&quot;height&quot;:248.4,&quot;left&quot;:64.8,&quot;top&quot;:169.9,&quot;width&quot;:810}"/>
</p:tagLst>
</file>

<file path=ppt/tags/tag26.xml><?xml version="1.0" encoding="utf-8"?>
<p:tagLst xmlns:p="http://schemas.openxmlformats.org/presentationml/2006/main">
  <p:tag name="KSO_WM_DIAGRAM_VIRTUALLY_FRAME" val="{&quot;height&quot;:248.4,&quot;left&quot;:64.8,&quot;top&quot;:169.9,&quot;width&quot;:810}"/>
</p:tagLst>
</file>

<file path=ppt/tags/tag27.xml><?xml version="1.0" encoding="utf-8"?>
<p:tagLst xmlns:p="http://schemas.openxmlformats.org/presentationml/2006/main">
  <p:tag name="KSO_WM_DIAGRAM_VIRTUALLY_FRAME" val="{&quot;height&quot;:248.4,&quot;left&quot;:64.8,&quot;top&quot;:169.9,&quot;width&quot;:810}"/>
</p:tagLst>
</file>

<file path=ppt/tags/tag28.xml><?xml version="1.0" encoding="utf-8"?>
<p:tagLst xmlns:p="http://schemas.openxmlformats.org/presentationml/2006/main">
  <p:tag name="KSO_WM_DIAGRAM_VIRTUALLY_FRAME" val="{&quot;height&quot;:248.4,&quot;left&quot;:64.8,&quot;top&quot;:169.9,&quot;width&quot;:810}"/>
</p:tagLst>
</file>

<file path=ppt/tags/tag29.xml><?xml version="1.0" encoding="utf-8"?>
<p:tagLst xmlns:p="http://schemas.openxmlformats.org/presentationml/2006/main">
  <p:tag name="KSO_WM_DIAGRAM_VIRTUALLY_FRAME" val="{&quot;height&quot;:248.4,&quot;left&quot;:64.8,&quot;top&quot;:169.9,&quot;width&quot;:810}"/>
</p:tagLst>
</file>

<file path=ppt/tags/tag30.xml><?xml version="1.0" encoding="utf-8"?>
<p:tagLst xmlns:p="http://schemas.openxmlformats.org/presentationml/2006/main">
  <p:tag name="KSO_WM_DIAGRAM_VIRTUALLY_FRAME" val="{&quot;height&quot;:248.4,&quot;left&quot;:64.8,&quot;top&quot;:169.9,&quot;width&quot;:810}"/>
</p:tagLst>
</file>

<file path=ppt/tags/tag31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32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33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34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35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36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37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38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39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40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41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42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43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44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45.xml><?xml version="1.0" encoding="utf-8"?>
<p:tagLst xmlns:p="http://schemas.openxmlformats.org/presentationml/2006/main">
  <p:tag name="KSO_WM_DIAGRAM_VIRTUALLY_FRAME" val="{&quot;height&quot;:162,&quot;left&quot;:64.8,&quot;top&quot;:165.6,&quot;width&quot;:802.8}"/>
</p:tagLst>
</file>

<file path=ppt/tags/tag46.xml><?xml version="1.0" encoding="utf-8"?>
<p:tagLst xmlns:p="http://schemas.openxmlformats.org/presentationml/2006/main">
  <p:tag name="KSO_WM_DIAGRAM_VIRTUALLY_FRAME" val="{&quot;height&quot;:172.8,&quot;left&quot;:64.8,&quot;top&quot;:165.85,&quot;width&quot;:817.2}"/>
</p:tagLst>
</file>

<file path=ppt/tags/tag47.xml><?xml version="1.0" encoding="utf-8"?>
<p:tagLst xmlns:p="http://schemas.openxmlformats.org/presentationml/2006/main">
  <p:tag name="KSO_WM_DIAGRAM_VIRTUALLY_FRAME" val="{&quot;height&quot;:172.8,&quot;left&quot;:64.8,&quot;top&quot;:165.85,&quot;width&quot;:817.2}"/>
</p:tagLst>
</file>

<file path=ppt/tags/tag48.xml><?xml version="1.0" encoding="utf-8"?>
<p:tagLst xmlns:p="http://schemas.openxmlformats.org/presentationml/2006/main">
  <p:tag name="KSO_WM_DIAGRAM_VIRTUALLY_FRAME" val="{&quot;height&quot;:172.8,&quot;left&quot;:64.8,&quot;top&quot;:165.85,&quot;width&quot;:817.2}"/>
</p:tagLst>
</file>

<file path=ppt/tags/tag49.xml><?xml version="1.0" encoding="utf-8"?>
<p:tagLst xmlns:p="http://schemas.openxmlformats.org/presentationml/2006/main">
  <p:tag name="KSO_WM_DIAGRAM_VIRTUALLY_FRAME" val="{&quot;height&quot;:172.8,&quot;left&quot;:64.8,&quot;top&quot;:165.85,&quot;width&quot;:817.2}"/>
</p:tagLst>
</file>

<file path=ppt/tags/tag50.xml><?xml version="1.0" encoding="utf-8"?>
<p:tagLst xmlns:p="http://schemas.openxmlformats.org/presentationml/2006/main">
  <p:tag name="KSO_WM_DIAGRAM_VIRTUALLY_FRAME" val="{&quot;height&quot;:172.8,&quot;left&quot;:64.8,&quot;top&quot;:165.85,&quot;width&quot;:817.2}"/>
</p:tagLst>
</file>

<file path=ppt/tags/tag51.xml><?xml version="1.0" encoding="utf-8"?>
<p:tagLst xmlns:p="http://schemas.openxmlformats.org/presentationml/2006/main">
  <p:tag name="KSO_WM_DIAGRAM_VIRTUALLY_FRAME" val="{&quot;height&quot;:172.8,&quot;left&quot;:64.8,&quot;top&quot;:165.85,&quot;width&quot;:817.2}"/>
</p:tagLst>
</file>

<file path=ppt/tags/tag52.xml><?xml version="1.0" encoding="utf-8"?>
<p:tagLst xmlns:p="http://schemas.openxmlformats.org/presentationml/2006/main">
  <p:tag name="KSO_WM_DIAGRAM_VIRTUALLY_FRAME" val="{&quot;height&quot;:172.8,&quot;left&quot;:64.8,&quot;top&quot;:165.85,&quot;width&quot;:817.2}"/>
</p:tagLst>
</file>

<file path=ppt/tags/tag53.xml><?xml version="1.0" encoding="utf-8"?>
<p:tagLst xmlns:p="http://schemas.openxmlformats.org/presentationml/2006/main">
  <p:tag name="KSO_WM_DIAGRAM_VIRTUALLY_FRAME" val="{&quot;height&quot;:172.8,&quot;left&quot;:64.8,&quot;top&quot;:165.85,&quot;width&quot;:817.2}"/>
</p:tagLst>
</file>

<file path=ppt/tags/tag54.xml><?xml version="1.0" encoding="utf-8"?>
<p:tagLst xmlns:p="http://schemas.openxmlformats.org/presentationml/2006/main">
  <p:tag name="KSO_WM_DIAGRAM_VIRTUALLY_FRAME" val="{&quot;height&quot;:172.8,&quot;left&quot;:64.8,&quot;top&quot;:165.85,&quot;width&quot;:817.2}"/>
</p:tagLst>
</file>

<file path=ppt/tags/tag55.xml><?xml version="1.0" encoding="utf-8"?>
<p:tagLst xmlns:p="http://schemas.openxmlformats.org/presentationml/2006/main">
  <p:tag name="COMMONDATA" val="eyJoZGlkIjoiZjcwYzI1MGQ4M2UxODMzNjc3ZWMxZDI3YTliMjFlNzMifQ=="/>
  <p:tag name="KSO_WPP_MARK_KEY" val="511da2e8-8bf9-4941-ba89-32ac787915ac"/>
</p:tagLst>
</file>

<file path=ppt/theme/theme1.xml><?xml version="1.0" encoding="utf-8"?>
<a:theme xmlns:a="http://schemas.openxmlformats.org/drawingml/2006/main" name="Office 主题">
  <a:themeElements>
    <a:clrScheme name="自定义 3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40B1"/>
      </a:accent1>
      <a:accent2>
        <a:srgbClr val="141B2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ITC Avant Garde Std Md"/>
        <a:ea typeface="华文细黑"/>
        <a:cs typeface=""/>
      </a:majorFont>
      <a:minorFont>
        <a:latin typeface="华文细黑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6406</Words>
  <Application>WPS 文字</Application>
  <PresentationFormat>宽屏</PresentationFormat>
  <Paragraphs>752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Arial</vt:lpstr>
      <vt:lpstr>宋体</vt:lpstr>
      <vt:lpstr>Wingdings</vt:lpstr>
      <vt:lpstr>Arial</vt:lpstr>
      <vt:lpstr>PingFang SC</vt:lpstr>
      <vt:lpstr>Avenir Next</vt:lpstr>
      <vt:lpstr>华文细黑</vt:lpstr>
      <vt:lpstr>黑体-简</vt:lpstr>
      <vt:lpstr>微软雅黑</vt:lpstr>
      <vt:lpstr>Arial Unicode MS</vt:lpstr>
      <vt:lpstr>ITC Avant Garde Std Md</vt:lpstr>
      <vt:lpstr>苹方-简</vt:lpstr>
      <vt:lpstr>Calibri</vt:lpstr>
      <vt:lpstr>PingFang SC Semibold</vt:lpstr>
      <vt:lpstr>Menlo</vt:lpstr>
      <vt:lpstr>Avenir Next</vt:lpstr>
      <vt:lpstr>Menlo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张涛</dc:creator>
  <cp:lastModifiedBy>隋岩</cp:lastModifiedBy>
  <cp:revision>633</cp:revision>
  <dcterms:created xsi:type="dcterms:W3CDTF">2026-03-24T07:30:19Z</dcterms:created>
  <dcterms:modified xsi:type="dcterms:W3CDTF">2026-03-24T07:30:19Z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A5D75FC2DB509EFDD700BE696A2A4265_43</vt:lpwstr>
  </property>
  <property fmtid="{D5CDD505-2E9C-101B-9397-08002B2CF9AE}" pid="3" name="KSOProductBuildVer">
    <vt:lpwstr>2052-12.1.25205.25205</vt:lpwstr>
  </property>
</Properties>
</file>